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74" r:id="rId6"/>
    <p:sldId id="261" r:id="rId7"/>
    <p:sldId id="275" r:id="rId8"/>
    <p:sldId id="263" r:id="rId9"/>
    <p:sldId id="264" r:id="rId10"/>
    <p:sldId id="265" r:id="rId11"/>
    <p:sldId id="282" r:id="rId12"/>
    <p:sldId id="266" r:id="rId13"/>
    <p:sldId id="280" r:id="rId14"/>
    <p:sldId id="281" r:id="rId15"/>
    <p:sldId id="294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08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US" sz="1080" b="0" i="0" u="none" strike="noStrike">
                <a:solidFill>
                  <a:srgbClr val="000000"/>
                </a:solidFill>
                <a:latin typeface="Arial" panose="020B0604020202020204"/>
              </a:rPr>
              <a:t>Weekly Revenue Forecast £ — Gradient Boosting (Retrained on Full Dataset)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Forecast (£)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W1 Jan</c:v>
                </c:pt>
                <c:pt idx="1">
                  <c:v>W2 Jan</c:v>
                </c:pt>
                <c:pt idx="2">
                  <c:v>W3 Jan</c:v>
                </c:pt>
                <c:pt idx="3">
                  <c:v>W4 Jan</c:v>
                </c:pt>
                <c:pt idx="4">
                  <c:v>W1 Feb</c:v>
                </c:pt>
                <c:pt idx="5">
                  <c:v>W2 Feb</c:v>
                </c:pt>
                <c:pt idx="6">
                  <c:v>W3 Feb</c:v>
                </c:pt>
                <c:pt idx="7">
                  <c:v>W4 Feb</c:v>
                </c:pt>
                <c:pt idx="8">
                  <c:v>W1 Mar</c:v>
                </c:pt>
                <c:pt idx="9">
                  <c:v>W2 Mar</c:v>
                </c:pt>
                <c:pt idx="10">
                  <c:v>W3 Mar</c:v>
                </c:pt>
                <c:pt idx="11">
                  <c:v>W4 Mar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285000</c:v>
                </c:pt>
                <c:pt idx="1">
                  <c:v>310000</c:v>
                </c:pt>
                <c:pt idx="2">
                  <c:v>298000</c:v>
                </c:pt>
                <c:pt idx="3">
                  <c:v>320000</c:v>
                </c:pt>
                <c:pt idx="4">
                  <c:v>275000</c:v>
                </c:pt>
                <c:pt idx="5">
                  <c:v>295000</c:v>
                </c:pt>
                <c:pt idx="6">
                  <c:v>305000</c:v>
                </c:pt>
                <c:pt idx="7">
                  <c:v>285000</c:v>
                </c:pt>
                <c:pt idx="8">
                  <c:v>290000</c:v>
                </c:pt>
                <c:pt idx="9">
                  <c:v>308000</c:v>
                </c:pt>
                <c:pt idx="10">
                  <c:v>315000</c:v>
                </c:pt>
                <c:pt idx="11">
                  <c:v>232000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9A-5E4A-B235-A9E570EE7B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</c:chart>
  <c:spPr>
    <a:solidFill>
      <a:srgbClr val="FFFFFF"/>
    </a:solidFill>
    <a:ln>
      <a:noFill/>
    </a:ln>
    <a:effectLst/>
  </c:spPr>
  <c:txPr>
    <a:bodyPr/>
    <a:lstStyle/>
    <a:p>
      <a:pPr>
        <a:defRPr lang="en-US" sz="9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3/28/26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300" dirty="0">
                <a:solidFill>
                  <a:srgbClr val="FFFFFF"/>
                </a:solidFill>
              </a:rPr>
              <a:t>CLUSTER-BASED RETAIL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300" dirty="0">
                <a:solidFill>
                  <a:srgbClr val="14B8A6"/>
                </a:solidFill>
              </a:rPr>
              <a:t>FORECASTING PLATFORM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2212848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</a:rPr>
              <a:t>Agentic AI Query Routing  ·  Docker  ·  FastAPI  ·  PostgreSQL  ·  LLM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2724912"/>
            <a:ext cx="1600200" cy="292608"/>
          </a:xfrm>
          <a:prstGeom prst="rect">
            <a:avLst/>
          </a:prstGeom>
          <a:solidFill>
            <a:srgbClr val="1A3352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724912"/>
            <a:ext cx="1600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B8A6"/>
                </a:solidFill>
              </a:rPr>
              <a:t>DELIVERABLE 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0" y="2724912"/>
            <a:ext cx="1600200" cy="292608"/>
          </a:xfrm>
          <a:prstGeom prst="rect">
            <a:avLst/>
          </a:prstGeom>
          <a:solidFill>
            <a:srgbClr val="1A3352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0" y="2724912"/>
            <a:ext cx="1600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B8A6"/>
                </a:solidFill>
              </a:rPr>
              <a:t>BROCODE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069080" y="2724912"/>
            <a:ext cx="1600200" cy="292608"/>
          </a:xfrm>
          <a:prstGeom prst="rect">
            <a:avLst/>
          </a:prstGeom>
          <a:solidFill>
            <a:srgbClr val="1A3352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69080" y="2724912"/>
            <a:ext cx="1600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B8A6"/>
                </a:solidFill>
              </a:rPr>
              <a:t>March 2026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448056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Ayush Kumar  ·  Aditi Mittal  ·  Shweta Tripathi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32320" y="274320"/>
            <a:ext cx="2560320" cy="2560320"/>
          </a:xfrm>
          <a:prstGeom prst="rect">
            <a:avLst/>
          </a:prstGeom>
          <a:solidFill>
            <a:srgbClr val="0D9488">
              <a:alpha val="1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80960" y="2286000"/>
            <a:ext cx="1645920" cy="1645920"/>
          </a:xfrm>
          <a:prstGeom prst="rect">
            <a:avLst/>
          </a:prstGeom>
          <a:solidFill>
            <a:srgbClr val="F59E0B">
              <a:alpha val="15000"/>
            </a:srgbClr>
          </a:soli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Agenda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</a:rPr>
              <a:t>Sales Revenue Forecasting | Online Retail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Sales Revenue Forecasting — Online Retail  |  Deliverable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4114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777240"/>
            <a:ext cx="384048" cy="6858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777240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813816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Problem &amp; Business Objective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1124712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Why forecast? What does it enable?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1572768"/>
            <a:ext cx="4114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1572768"/>
            <a:ext cx="384048" cy="6858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1572768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1609344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Dataset &amp; Pipeline Overview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192024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Online Retail II — 1M+ transactions, 13-step pipeline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368296"/>
            <a:ext cx="4114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368296"/>
            <a:ext cx="384048" cy="6858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368296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2404872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Data Processing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2715768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Diagnostics, cleaning, 94.4% record retention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3163824"/>
            <a:ext cx="4114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163824"/>
            <a:ext cx="384048" cy="6858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3163824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320040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Target Variable &amp; Feature Engineering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1520" y="3511296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Weekly revenue + 26 predictive features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3959352"/>
            <a:ext cx="4114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3959352"/>
            <a:ext cx="384048" cy="6858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3959352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3995928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Pre-Modeling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31520" y="4306824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Stationarity, train/val/test split, hyperparameters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09160" y="777240"/>
            <a:ext cx="4114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09160" y="777240"/>
            <a:ext cx="384048" cy="6858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09160" y="777240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66360" y="813816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Model Building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166360" y="1124712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SARIMA | Prophet | Gradient Boosting | iTransformer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09160" y="1572768"/>
            <a:ext cx="4114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09160" y="1572768"/>
            <a:ext cx="384048" cy="6858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09160" y="1572768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166360" y="1609344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Results &amp; Model Selection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166360" y="192024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MAPE comparison — Gradient Boosting wins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09160" y="2368296"/>
            <a:ext cx="4114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709160" y="2368296"/>
            <a:ext cx="384048" cy="6858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09160" y="2368296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166360" y="2404872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Technical Architecture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166360" y="2715768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System design for cluster-based forecasting platform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709160" y="3163824"/>
            <a:ext cx="4114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709160" y="3163824"/>
            <a:ext cx="384048" cy="6858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709160" y="3163824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166360" y="320040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Business Value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166360" y="3511296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Inventory, demand risk, service levels, customer benefit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709160" y="3959352"/>
            <a:ext cx="4114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709160" y="3959352"/>
            <a:ext cx="384048" cy="6858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09160" y="3959352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166360" y="3995928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12-Week Forecast &amp; Deliverables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166360" y="4306824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£3.5M projected revenue | Cluster-based results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Problem &amp; Business Objective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</a:rPr>
              <a:t>Why Weekly Revenue Forecasting?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Sales Revenue Forecasting — Online Retail |  Deliverable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804672"/>
          </a:xfrm>
          <a:prstGeom prst="rect">
            <a:avLst/>
          </a:prstGeom>
          <a:solidFill>
            <a:srgbClr val="FFF7ED"/>
          </a:solidFill>
          <a:ln w="9525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987552"/>
            <a:ext cx="82296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20116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2011680" cy="347472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9245" y="1637030"/>
            <a:ext cx="1976755" cy="391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🎯  Forecast Accuracy (MAPE)</a:t>
            </a:r>
          </a:p>
        </p:txBody>
      </p:sp>
      <p:sp>
        <p:nvSpPr>
          <p:cNvPr id="14" name="Text 12"/>
          <p:cNvSpPr/>
          <p:nvPr/>
        </p:nvSpPr>
        <p:spPr>
          <a:xfrm>
            <a:off x="384048" y="2048256"/>
            <a:ext cx="1792224" cy="14813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Build repeatable weekly revenue forecasting pipeline minimising MAPE for supply chain decisions.</a:t>
            </a:r>
          </a:p>
        </p:txBody>
      </p:sp>
      <p:sp>
        <p:nvSpPr>
          <p:cNvPr id="15" name="Shape 13"/>
          <p:cNvSpPr/>
          <p:nvPr/>
        </p:nvSpPr>
        <p:spPr>
          <a:xfrm>
            <a:off x="2423160" y="1664208"/>
            <a:ext cx="20116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23160" y="1664208"/>
            <a:ext cx="2011680" cy="347472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23160" y="1673225"/>
            <a:ext cx="2001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📦  Inventory Optimisation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32888" y="2048256"/>
            <a:ext cx="1792224" cy="14813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Enable operations to anticipate demand and reduce excess inventory holding costs.</a:t>
            </a:r>
          </a:p>
        </p:txBody>
      </p:sp>
      <p:sp>
        <p:nvSpPr>
          <p:cNvPr id="19" name="Shape 17"/>
          <p:cNvSpPr/>
          <p:nvPr/>
        </p:nvSpPr>
        <p:spPr>
          <a:xfrm>
            <a:off x="4572000" y="1664208"/>
            <a:ext cx="20116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0" y="1664208"/>
            <a:ext cx="2011680" cy="347472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5175" y="1664335"/>
            <a:ext cx="2011680" cy="3276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🔄  Standardise Methodology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81728" y="2048256"/>
            <a:ext cx="1792224" cy="14813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Establish reusable analytical approach for future forecasting cycles across categories.</a:t>
            </a:r>
          </a:p>
        </p:txBody>
      </p:sp>
      <p:sp>
        <p:nvSpPr>
          <p:cNvPr id="23" name="Shape 21"/>
          <p:cNvSpPr/>
          <p:nvPr/>
        </p:nvSpPr>
        <p:spPr>
          <a:xfrm>
            <a:off x="6720840" y="1664208"/>
            <a:ext cx="20116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720840" y="1664208"/>
            <a:ext cx="2011680" cy="347472"/>
          </a:xfrm>
          <a:prstGeom prst="rect">
            <a:avLst/>
          </a:prstGeom>
          <a:solidFill>
            <a:srgbClr val="EF4444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27190" y="1666875"/>
            <a:ext cx="2005330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📅  Seasonal Awareness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30568" y="2048256"/>
            <a:ext cx="1792224" cy="14813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Capture holiday effects, promotions, and price signals affecting purchasing behaviour.</a:t>
            </a:r>
          </a:p>
        </p:txBody>
      </p:sp>
      <p:sp>
        <p:nvSpPr>
          <p:cNvPr id="109" name="Google Shape;109;p3"/>
          <p:cNvSpPr/>
          <p:nvPr/>
        </p:nvSpPr>
        <p:spPr>
          <a:xfrm>
            <a:off x="548640" y="987425"/>
            <a:ext cx="8230235" cy="44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Without accurate weekly revenue forecasts, operations teams face stockouts, excess inventory costs, and missed demand signals — especially around high-volatility holiday seasons (Nov–Dec) that drive 50–65% revenue spikes above baseline.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320040" y="3794760"/>
            <a:ext cx="8503920" cy="54864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502920" y="3858768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Key Stakeholders: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2240280" y="3913632"/>
            <a:ext cx="1463040" cy="329184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2254885" y="3914267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3904488" y="3913632"/>
            <a:ext cx="1463040" cy="329184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3904488" y="3914902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Supply Chain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5568696" y="3913632"/>
            <a:ext cx="1463040" cy="329184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5575046" y="3915537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7232904" y="3913632"/>
            <a:ext cx="1463040" cy="329184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7255129" y="3916172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Procurement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Dataset Overview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</a:rPr>
              <a:t>Online Retail — UCI Machine Learning Repository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Sales Revenue Forecasting — Online Retail |  Deliverable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19933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731520"/>
            <a:ext cx="1993392" cy="109728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822960"/>
            <a:ext cx="199339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</a:rPr>
              <a:t>1,067,371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" y="1325880"/>
            <a:ext cx="199339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Total Transactions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50592" y="731520"/>
            <a:ext cx="19933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50592" y="731520"/>
            <a:ext cx="1993392" cy="109728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50592" y="822960"/>
            <a:ext cx="199339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</a:rPr>
              <a:t>2 Years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50592" y="1325880"/>
            <a:ext cx="199339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Dec 2009 – Dec 2011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26864" y="731520"/>
            <a:ext cx="19933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26864" y="731520"/>
            <a:ext cx="1993392" cy="109728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26864" y="822960"/>
            <a:ext cx="199339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</a:rPr>
              <a:t>40+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26864" y="1325880"/>
            <a:ext cx="199339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Countries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731520"/>
            <a:ext cx="19933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03136" y="731520"/>
            <a:ext cx="1993392" cy="109728"/>
          </a:xfrm>
          <a:prstGeom prst="rect">
            <a:avLst/>
          </a:prstGeom>
          <a:solidFill>
            <a:srgbClr val="22C55E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03136" y="822960"/>
            <a:ext cx="199339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</a:rPr>
              <a:t>94.4%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03136" y="1325880"/>
            <a:ext cx="199339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Records Retained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1847088"/>
            <a:ext cx="4114800" cy="2633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1847088"/>
            <a:ext cx="4114800" cy="292608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1847088"/>
            <a:ext cx="4114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FIELDS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157984"/>
            <a:ext cx="4114800" cy="347472"/>
          </a:xfrm>
          <a:prstGeom prst="rect">
            <a:avLst/>
          </a:prstGeom>
          <a:solidFill>
            <a:srgbClr val="F1F5F9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4048" y="2203704"/>
            <a:ext cx="1554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Invoice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20240" y="2203704"/>
            <a:ext cx="2377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Cancellation detection (prefix C)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4048" y="2560320"/>
            <a:ext cx="1554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StockCode / Description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20240" y="2560320"/>
            <a:ext cx="2377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Product identifier &amp; label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2871216"/>
            <a:ext cx="4114800" cy="347472"/>
          </a:xfrm>
          <a:prstGeom prst="rect">
            <a:avLst/>
          </a:prstGeom>
          <a:solidFill>
            <a:srgbClr val="F1F5F9"/>
          </a:solidFill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84048" y="2916936"/>
            <a:ext cx="1554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Quantity × Price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920240" y="2916936"/>
            <a:ext cx="2377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Revenue — target variable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4048" y="3273552"/>
            <a:ext cx="1554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InvoiceDate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920240" y="3273552"/>
            <a:ext cx="2377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Time axis for weekly aggregation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3584448"/>
            <a:ext cx="4114800" cy="347472"/>
          </a:xfrm>
          <a:prstGeom prst="rect">
            <a:avLst/>
          </a:prstGeom>
          <a:solidFill>
            <a:srgbClr val="F1F5F9"/>
          </a:solidFill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84048" y="3630168"/>
            <a:ext cx="1554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Customer ID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920240" y="3630168"/>
            <a:ext cx="2377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22.8% missing → acceptable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84048" y="3986784"/>
            <a:ext cx="1554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Country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920240" y="3986784"/>
            <a:ext cx="2377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UK primary + 40 international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26610" y="1847088"/>
            <a:ext cx="4206240" cy="2633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617720" y="1847088"/>
            <a:ext cx="4206240" cy="292608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17720" y="1847088"/>
            <a:ext cx="4206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TOP COUNTRIES BY VOLUME</a:t>
            </a:r>
            <a:endParaRPr lang="en-US" sz="900" dirty="0"/>
          </a:p>
        </p:txBody>
      </p:sp>
      <p:sp>
        <p:nvSpPr>
          <p:cNvPr id="60" name="Google Shape;190;p4"/>
          <p:cNvSpPr/>
          <p:nvPr/>
        </p:nvSpPr>
        <p:spPr>
          <a:xfrm>
            <a:off x="5257800" y="240487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United Kingdom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191;p4"/>
          <p:cNvSpPr/>
          <p:nvPr/>
        </p:nvSpPr>
        <p:spPr>
          <a:xfrm>
            <a:off x="6675120" y="2459990"/>
            <a:ext cx="1575435" cy="21209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192;p4"/>
          <p:cNvSpPr/>
          <p:nvPr/>
        </p:nvSpPr>
        <p:spPr>
          <a:xfrm>
            <a:off x="8266430" y="2470785"/>
            <a:ext cx="457200" cy="2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381,330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193;p4"/>
          <p:cNvSpPr/>
          <p:nvPr/>
        </p:nvSpPr>
        <p:spPr>
          <a:xfrm>
            <a:off x="5257800" y="280720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EIRE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194;p4"/>
          <p:cNvSpPr/>
          <p:nvPr/>
        </p:nvSpPr>
        <p:spPr>
          <a:xfrm>
            <a:off x="6675120" y="2862072"/>
            <a:ext cx="228600" cy="201168"/>
          </a:xfrm>
          <a:prstGeom prst="rect">
            <a:avLst/>
          </a:prstGeom>
          <a:solidFill>
            <a:srgbClr val="14B8A6"/>
          </a:solidFill>
          <a:ln w="12700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195;p4"/>
          <p:cNvSpPr/>
          <p:nvPr/>
        </p:nvSpPr>
        <p:spPr>
          <a:xfrm>
            <a:off x="6949440" y="286207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17,866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196;p4"/>
          <p:cNvSpPr/>
          <p:nvPr/>
        </p:nvSpPr>
        <p:spPr>
          <a:xfrm>
            <a:off x="5257800" y="3209544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Germany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197;p4"/>
          <p:cNvSpPr/>
          <p:nvPr/>
        </p:nvSpPr>
        <p:spPr>
          <a:xfrm>
            <a:off x="6675120" y="3264408"/>
            <a:ext cx="219456" cy="201168"/>
          </a:xfrm>
          <a:prstGeom prst="rect">
            <a:avLst/>
          </a:prstGeom>
          <a:solidFill>
            <a:srgbClr val="14B8A6"/>
          </a:solidFill>
          <a:ln w="12700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198;p4"/>
          <p:cNvSpPr/>
          <p:nvPr/>
        </p:nvSpPr>
        <p:spPr>
          <a:xfrm>
            <a:off x="6940296" y="326440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17,624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199;p4"/>
          <p:cNvSpPr/>
          <p:nvPr/>
        </p:nvSpPr>
        <p:spPr>
          <a:xfrm>
            <a:off x="5257800" y="36118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France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200;p4"/>
          <p:cNvSpPr/>
          <p:nvPr/>
        </p:nvSpPr>
        <p:spPr>
          <a:xfrm>
            <a:off x="6675120" y="3666744"/>
            <a:ext cx="173736" cy="201168"/>
          </a:xfrm>
          <a:prstGeom prst="rect">
            <a:avLst/>
          </a:prstGeom>
          <a:solidFill>
            <a:srgbClr val="14B8A6"/>
          </a:solidFill>
          <a:ln w="12700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201;p4"/>
          <p:cNvSpPr/>
          <p:nvPr/>
        </p:nvSpPr>
        <p:spPr>
          <a:xfrm>
            <a:off x="6894576" y="3666744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14,330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202;p4"/>
          <p:cNvSpPr/>
          <p:nvPr/>
        </p:nvSpPr>
        <p:spPr>
          <a:xfrm>
            <a:off x="5257800" y="401421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Netherlands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203;p4"/>
          <p:cNvSpPr/>
          <p:nvPr/>
        </p:nvSpPr>
        <p:spPr>
          <a:xfrm>
            <a:off x="6675120" y="4069080"/>
            <a:ext cx="82296" cy="201168"/>
          </a:xfrm>
          <a:prstGeom prst="rect">
            <a:avLst/>
          </a:prstGeom>
          <a:solidFill>
            <a:srgbClr val="14B8A6"/>
          </a:solidFill>
          <a:ln w="12700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204;p4"/>
          <p:cNvSpPr/>
          <p:nvPr/>
        </p:nvSpPr>
        <p:spPr>
          <a:xfrm>
            <a:off x="6803136" y="406908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5,140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320040" y="73152"/>
            <a:ext cx="73152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13-Step Analytics Deliverable 2 Pipeline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320040" y="73152"/>
            <a:ext cx="850392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End-to-End Forecasting Workflow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274320" y="4919472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Sales Revenue Forecasting | Online Retail | V1.0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8503920" y="49194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320040" y="896112"/>
            <a:ext cx="996696" cy="713232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369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320040" y="932688"/>
            <a:ext cx="996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320040" y="1152144"/>
            <a:ext cx="99669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Environment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Setup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5"/>
          <p:cNvCxnSpPr/>
          <p:nvPr/>
        </p:nvCxnSpPr>
        <p:spPr>
          <a:xfrm>
            <a:off x="1316736" y="1252728"/>
            <a:ext cx="4572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1" name="Google Shape;221;p5"/>
          <p:cNvSpPr/>
          <p:nvPr/>
        </p:nvSpPr>
        <p:spPr>
          <a:xfrm>
            <a:off x="1362456" y="896112"/>
            <a:ext cx="996696" cy="713232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369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1362456" y="932688"/>
            <a:ext cx="996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1362456" y="1152144"/>
            <a:ext cx="99669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5"/>
          <p:cNvCxnSpPr/>
          <p:nvPr/>
        </p:nvCxnSpPr>
        <p:spPr>
          <a:xfrm>
            <a:off x="2359152" y="1252728"/>
            <a:ext cx="4572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5" name="Google Shape;225;p5"/>
          <p:cNvSpPr/>
          <p:nvPr/>
        </p:nvSpPr>
        <p:spPr>
          <a:xfrm>
            <a:off x="2404872" y="896112"/>
            <a:ext cx="996696" cy="713232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369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2404872" y="932688"/>
            <a:ext cx="996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2404872" y="1152144"/>
            <a:ext cx="99669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Diagnostics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5"/>
          <p:cNvCxnSpPr/>
          <p:nvPr/>
        </p:nvCxnSpPr>
        <p:spPr>
          <a:xfrm>
            <a:off x="3401568" y="1252728"/>
            <a:ext cx="4572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9" name="Google Shape;229;p5"/>
          <p:cNvSpPr/>
          <p:nvPr/>
        </p:nvSpPr>
        <p:spPr>
          <a:xfrm>
            <a:off x="3447288" y="896112"/>
            <a:ext cx="996696" cy="713232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369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5"/>
          <p:cNvSpPr/>
          <p:nvPr/>
        </p:nvSpPr>
        <p:spPr>
          <a:xfrm>
            <a:off x="3447288" y="932688"/>
            <a:ext cx="996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3447288" y="1152144"/>
            <a:ext cx="99669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5"/>
          <p:cNvCxnSpPr/>
          <p:nvPr/>
        </p:nvCxnSpPr>
        <p:spPr>
          <a:xfrm>
            <a:off x="4443984" y="1252728"/>
            <a:ext cx="4572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3" name="Google Shape;233;p5"/>
          <p:cNvSpPr/>
          <p:nvPr/>
        </p:nvSpPr>
        <p:spPr>
          <a:xfrm>
            <a:off x="4489704" y="896112"/>
            <a:ext cx="996696" cy="713232"/>
          </a:xfrm>
          <a:prstGeom prst="rect">
            <a:avLst/>
          </a:prstGeom>
          <a:solidFill>
            <a:srgbClr val="065F46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5"/>
          <p:cNvSpPr/>
          <p:nvPr/>
        </p:nvSpPr>
        <p:spPr>
          <a:xfrm>
            <a:off x="4489704" y="932688"/>
            <a:ext cx="996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4489704" y="1152144"/>
            <a:ext cx="99669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p5"/>
          <p:cNvCxnSpPr/>
          <p:nvPr/>
        </p:nvCxnSpPr>
        <p:spPr>
          <a:xfrm>
            <a:off x="5486400" y="1252728"/>
            <a:ext cx="4572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7" name="Google Shape;237;p5"/>
          <p:cNvSpPr/>
          <p:nvPr/>
        </p:nvSpPr>
        <p:spPr>
          <a:xfrm>
            <a:off x="5532120" y="896112"/>
            <a:ext cx="996696" cy="713232"/>
          </a:xfrm>
          <a:prstGeom prst="rect">
            <a:avLst/>
          </a:prstGeom>
          <a:solidFill>
            <a:srgbClr val="065F46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5"/>
          <p:cNvSpPr/>
          <p:nvPr/>
        </p:nvSpPr>
        <p:spPr>
          <a:xfrm>
            <a:off x="5532120" y="932688"/>
            <a:ext cx="996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5532120" y="1152144"/>
            <a:ext cx="99669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5"/>
          <p:cNvCxnSpPr/>
          <p:nvPr/>
        </p:nvCxnSpPr>
        <p:spPr>
          <a:xfrm>
            <a:off x="6528816" y="1252728"/>
            <a:ext cx="4572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1" name="Google Shape;241;p5"/>
          <p:cNvSpPr/>
          <p:nvPr/>
        </p:nvSpPr>
        <p:spPr>
          <a:xfrm>
            <a:off x="6574536" y="896112"/>
            <a:ext cx="996696" cy="713232"/>
          </a:xfrm>
          <a:prstGeom prst="rect">
            <a:avLst/>
          </a:prstGeom>
          <a:solidFill>
            <a:srgbClr val="065F46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6574536" y="932688"/>
            <a:ext cx="996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6574536" y="1152144"/>
            <a:ext cx="99669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Stationarity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5"/>
          <p:cNvCxnSpPr/>
          <p:nvPr/>
        </p:nvCxnSpPr>
        <p:spPr>
          <a:xfrm>
            <a:off x="7571232" y="1252728"/>
            <a:ext cx="4572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5" name="Google Shape;245;p5"/>
          <p:cNvSpPr/>
          <p:nvPr/>
        </p:nvSpPr>
        <p:spPr>
          <a:xfrm>
            <a:off x="7616952" y="896112"/>
            <a:ext cx="996696" cy="713232"/>
          </a:xfrm>
          <a:prstGeom prst="rect">
            <a:avLst/>
          </a:prstGeom>
          <a:solidFill>
            <a:srgbClr val="3B0764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5"/>
          <p:cNvSpPr/>
          <p:nvPr/>
        </p:nvSpPr>
        <p:spPr>
          <a:xfrm>
            <a:off x="7616952" y="932688"/>
            <a:ext cx="996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7616952" y="1152144"/>
            <a:ext cx="99669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Train/Test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Split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5"/>
          <p:cNvCxnSpPr/>
          <p:nvPr/>
        </p:nvCxnSpPr>
        <p:spPr>
          <a:xfrm>
            <a:off x="8115300" y="1609344"/>
            <a:ext cx="0" cy="32004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9" name="Google Shape;249;p5"/>
          <p:cNvSpPr/>
          <p:nvPr/>
        </p:nvSpPr>
        <p:spPr>
          <a:xfrm>
            <a:off x="320040" y="1664208"/>
            <a:ext cx="4123944" cy="201168"/>
          </a:xfrm>
          <a:prstGeom prst="rect">
            <a:avLst/>
          </a:prstGeom>
          <a:solidFill>
            <a:srgbClr val="0369A1"/>
          </a:solidFill>
          <a:ln w="12700" cap="flat" cmpd="sng">
            <a:solidFill>
              <a:srgbClr val="0369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5"/>
          <p:cNvSpPr/>
          <p:nvPr/>
        </p:nvSpPr>
        <p:spPr>
          <a:xfrm>
            <a:off x="320040" y="1664208"/>
            <a:ext cx="412394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EXTRACTION &amp; PROCESSING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4489704" y="1664208"/>
            <a:ext cx="3081528" cy="201168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5"/>
          <p:cNvSpPr/>
          <p:nvPr/>
        </p:nvSpPr>
        <p:spPr>
          <a:xfrm>
            <a:off x="4490339" y="1664208"/>
            <a:ext cx="30815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7616952" y="1664208"/>
            <a:ext cx="996696" cy="201168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5"/>
          <p:cNvSpPr/>
          <p:nvPr/>
        </p:nvSpPr>
        <p:spPr>
          <a:xfrm>
            <a:off x="7616952" y="1664208"/>
            <a:ext cx="99669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PRE-MODEL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7616952" y="1965960"/>
            <a:ext cx="996696" cy="713232"/>
          </a:xfrm>
          <a:prstGeom prst="rect">
            <a:avLst/>
          </a:prstGeom>
          <a:solidFill>
            <a:srgbClr val="431407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5"/>
          <p:cNvSpPr/>
          <p:nvPr/>
        </p:nvSpPr>
        <p:spPr>
          <a:xfrm>
            <a:off x="7616952" y="2002536"/>
            <a:ext cx="996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7616952" y="2221992"/>
            <a:ext cx="99669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SARIMA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5"/>
          <p:cNvCxnSpPr/>
          <p:nvPr/>
        </p:nvCxnSpPr>
        <p:spPr>
          <a:xfrm>
            <a:off x="7571232" y="2322576"/>
            <a:ext cx="4572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9" name="Google Shape;259;p5"/>
          <p:cNvSpPr/>
          <p:nvPr/>
        </p:nvSpPr>
        <p:spPr>
          <a:xfrm>
            <a:off x="6574536" y="1965960"/>
            <a:ext cx="996696" cy="713232"/>
          </a:xfrm>
          <a:prstGeom prst="rect">
            <a:avLst/>
          </a:prstGeom>
          <a:solidFill>
            <a:srgbClr val="431407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5"/>
          <p:cNvSpPr/>
          <p:nvPr/>
        </p:nvSpPr>
        <p:spPr>
          <a:xfrm>
            <a:off x="6574536" y="2002536"/>
            <a:ext cx="996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6574536" y="2221992"/>
            <a:ext cx="99669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Prophet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5"/>
          <p:cNvCxnSpPr/>
          <p:nvPr/>
        </p:nvCxnSpPr>
        <p:spPr>
          <a:xfrm>
            <a:off x="6528816" y="2322576"/>
            <a:ext cx="4572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3" name="Google Shape;263;p5"/>
          <p:cNvSpPr/>
          <p:nvPr/>
        </p:nvSpPr>
        <p:spPr>
          <a:xfrm>
            <a:off x="5532120" y="1965960"/>
            <a:ext cx="996696" cy="713232"/>
          </a:xfrm>
          <a:prstGeom prst="rect">
            <a:avLst/>
          </a:prstGeom>
          <a:solidFill>
            <a:srgbClr val="431407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5"/>
          <p:cNvSpPr/>
          <p:nvPr/>
        </p:nvSpPr>
        <p:spPr>
          <a:xfrm>
            <a:off x="5532120" y="2002536"/>
            <a:ext cx="996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/>
          <p:nvPr/>
        </p:nvSpPr>
        <p:spPr>
          <a:xfrm>
            <a:off x="5532120" y="2221992"/>
            <a:ext cx="99669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Gradient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Boosting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p5"/>
          <p:cNvCxnSpPr/>
          <p:nvPr/>
        </p:nvCxnSpPr>
        <p:spPr>
          <a:xfrm>
            <a:off x="5486400" y="2322576"/>
            <a:ext cx="4572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7" name="Google Shape;267;p5"/>
          <p:cNvSpPr/>
          <p:nvPr/>
        </p:nvSpPr>
        <p:spPr>
          <a:xfrm>
            <a:off x="4489704" y="1965960"/>
            <a:ext cx="996696" cy="713232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5"/>
          <p:cNvSpPr/>
          <p:nvPr/>
        </p:nvSpPr>
        <p:spPr>
          <a:xfrm>
            <a:off x="4489704" y="2002536"/>
            <a:ext cx="996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4489704" y="2221992"/>
            <a:ext cx="99669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5"/>
          <p:cNvCxnSpPr/>
          <p:nvPr/>
        </p:nvCxnSpPr>
        <p:spPr>
          <a:xfrm>
            <a:off x="4443984" y="2322576"/>
            <a:ext cx="4572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1" name="Google Shape;271;p5"/>
          <p:cNvSpPr/>
          <p:nvPr/>
        </p:nvSpPr>
        <p:spPr>
          <a:xfrm>
            <a:off x="3447288" y="1965960"/>
            <a:ext cx="996696" cy="713232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5"/>
          <p:cNvSpPr/>
          <p:nvPr/>
        </p:nvSpPr>
        <p:spPr>
          <a:xfrm>
            <a:off x="3447288" y="2002536"/>
            <a:ext cx="9966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3447288" y="2221992"/>
            <a:ext cx="99669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Forecast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Export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5532120" y="2734056"/>
            <a:ext cx="3081528" cy="201168"/>
          </a:xfrm>
          <a:prstGeom prst="rect">
            <a:avLst/>
          </a:prstGeom>
          <a:solidFill>
            <a:srgbClr val="B45309"/>
          </a:solidFill>
          <a:ln w="12700" cap="flat" cmpd="sng">
            <a:solidFill>
              <a:srgbClr val="B4530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5"/>
          <p:cNvSpPr/>
          <p:nvPr/>
        </p:nvSpPr>
        <p:spPr>
          <a:xfrm>
            <a:off x="5532120" y="2734056"/>
            <a:ext cx="30815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3447288" y="2734056"/>
            <a:ext cx="2039112" cy="201168"/>
          </a:xfrm>
          <a:prstGeom prst="rect">
            <a:avLst/>
          </a:prstGeom>
          <a:solidFill>
            <a:srgbClr val="0D6E63"/>
          </a:solidFill>
          <a:ln w="12700" cap="flat" cmpd="sng">
            <a:solidFill>
              <a:srgbClr val="0D6E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5"/>
          <p:cNvSpPr/>
          <p:nvPr/>
        </p:nvSpPr>
        <p:spPr>
          <a:xfrm>
            <a:off x="3447288" y="2734056"/>
            <a:ext cx="20391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 &amp; OUTPUT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320040" y="3310128"/>
            <a:ext cx="8503920" cy="6858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5"/>
          <p:cNvSpPr/>
          <p:nvPr/>
        </p:nvSpPr>
        <p:spPr>
          <a:xfrm>
            <a:off x="457200" y="335584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Dataset: 1,067,371 transactions  →  Clean: 94.4% retained  →  Target: Weekly Revenue (£)  →  Features: 26  →  Models: 3  →  Best: Gradient Boosting (FA 82.9%)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Data Processing &amp; Diagnostics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</a:rPr>
              <a:t>Cleaning Audit Trail → 94.4% Records Retained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Sales Revenue Forecasting — Online Retail|  Deliverable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50292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731520"/>
            <a:ext cx="5029200" cy="3200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73152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CLEANING STEPS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69848"/>
            <a:ext cx="5029200" cy="420624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84048" y="1161288"/>
            <a:ext cx="256032" cy="256032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116128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3232" y="1106424"/>
            <a:ext cx="23774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Remove duplicate rows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" y="1289304"/>
            <a:ext cx="2377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drop_duplicates()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27248" y="1152144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9488"/>
                </a:solidFill>
              </a:rPr>
              <a:t>drop_duplicates()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4048" y="1600200"/>
            <a:ext cx="256032" cy="256032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160020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13232" y="1545336"/>
            <a:ext cx="23774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Remove cancelled invoices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3232" y="1728216"/>
            <a:ext cx="2377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Invoice prefix 'C' → returns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127248" y="1591056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9488"/>
                </a:solidFill>
              </a:rPr>
              <a:t>Invoice prefix 'C' → returns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1947672"/>
            <a:ext cx="5029200" cy="420624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84048" y="2039112"/>
            <a:ext cx="256032" cy="256032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" y="203911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3232" y="1984248"/>
            <a:ext cx="23774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Remove Qty ≤ 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3232" y="2167128"/>
            <a:ext cx="2377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Negative / zero quantities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127248" y="2029968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9488"/>
                </a:solidFill>
              </a:rPr>
              <a:t>Negative / zero quantities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84048" y="2478024"/>
            <a:ext cx="256032" cy="256032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84048" y="247802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13232" y="2423160"/>
            <a:ext cx="23774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Remove Price ≤ 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3232" y="2606040"/>
            <a:ext cx="2377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Data entry errors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127248" y="2468880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9488"/>
                </a:solidFill>
              </a:rPr>
              <a:t>Data entry errors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2825496"/>
            <a:ext cx="5029200" cy="420624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84048" y="2916936"/>
            <a:ext cx="256032" cy="256032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84048" y="291693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13232" y="2862072"/>
            <a:ext cx="23774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Parse InvoiceDate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13232" y="3044952"/>
            <a:ext cx="2377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pandas datetime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127248" y="2907792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9488"/>
                </a:solidFill>
              </a:rPr>
              <a:t>pandas datetime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84048" y="3355848"/>
            <a:ext cx="256032" cy="256032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84048" y="335584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13232" y="3300984"/>
            <a:ext cx="23774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Extract time features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3232" y="3483864"/>
            <a:ext cx="2377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Year, Month, Week, IsWeekend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127248" y="3346704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9488"/>
                </a:solidFill>
              </a:rPr>
              <a:t>Year, Month, Week, IsWeekend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74320" y="3703320"/>
            <a:ext cx="5029200" cy="420624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84048" y="3794760"/>
            <a:ext cx="256032" cy="256032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84048" y="379476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13232" y="3739896"/>
            <a:ext cx="23774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Create Revenue field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13232" y="3922776"/>
            <a:ext cx="2377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Quantity × Price → target variable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127248" y="3785616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9488"/>
                </a:solidFill>
              </a:rPr>
              <a:t>Quantity × Price → target variable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532120" y="731520"/>
            <a:ext cx="33375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532120" y="731520"/>
            <a:ext cx="3337560" cy="32004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532120" y="73152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POST-CLEANING SUMMARY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623560" y="1078992"/>
            <a:ext cx="1097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94.4%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748272" y="1133856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Records retained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623560" y="1490472"/>
            <a:ext cx="1097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~1.0M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748272" y="1545336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Clean transactions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623560" y="1901952"/>
            <a:ext cx="1097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0%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748272" y="1956816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Negative prices/qty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532120" y="2487168"/>
            <a:ext cx="3337560" cy="914400"/>
          </a:xfrm>
          <a:prstGeom prst="rect">
            <a:avLst/>
          </a:prstGeom>
          <a:solidFill>
            <a:srgbClr val="FFF7ED"/>
          </a:solidFill>
          <a:ln w="9525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623560" y="2523744"/>
            <a:ext cx="3154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400E"/>
                </a:solidFill>
              </a:rPr>
              <a:t>⚠  Customer ID: 22.8% Missing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623560" y="2761488"/>
            <a:ext cx="31546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Acceptable — Customer-level analysis not required for aggregate weekly revenue forecasting.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532120" y="3511296"/>
            <a:ext cx="33375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623560" y="3547872"/>
            <a:ext cx="3154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Missing Values by Field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623560" y="3785616"/>
            <a:ext cx="2538056" cy="13716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623560" y="3785616"/>
            <a:ext cx="315468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Customer ID — 22.8%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5623560" y="3968496"/>
            <a:ext cx="44527" cy="13716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623560" y="3968496"/>
            <a:ext cx="315468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Description — 0.4%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623560" y="4151376"/>
            <a:ext cx="0" cy="137160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623560" y="4151376"/>
            <a:ext cx="315468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Others — 0%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7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7"/>
          <p:cNvSpPr/>
          <p:nvPr/>
        </p:nvSpPr>
        <p:spPr>
          <a:xfrm>
            <a:off x="320040" y="73152"/>
            <a:ext cx="73152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 Variable &amp; Feature Engineering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7"/>
          <p:cNvSpPr/>
          <p:nvPr/>
        </p:nvSpPr>
        <p:spPr>
          <a:xfrm>
            <a:off x="320040" y="73152"/>
            <a:ext cx="850392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Weekly Revenue + 26 Predictive Features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7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7"/>
          <p:cNvSpPr/>
          <p:nvPr/>
        </p:nvSpPr>
        <p:spPr>
          <a:xfrm>
            <a:off x="274320" y="4919472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Sales Revenue Forecasting | Online Retail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7"/>
          <p:cNvSpPr/>
          <p:nvPr/>
        </p:nvSpPr>
        <p:spPr>
          <a:xfrm>
            <a:off x="8503920" y="49194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274320" y="804672"/>
            <a:ext cx="5029200" cy="146304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7"/>
          <p:cNvSpPr/>
          <p:nvPr/>
        </p:nvSpPr>
        <p:spPr>
          <a:xfrm>
            <a:off x="274320" y="804672"/>
            <a:ext cx="64008" cy="146304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7"/>
          <p:cNvSpPr/>
          <p:nvPr/>
        </p:nvSpPr>
        <p:spPr>
          <a:xfrm>
            <a:off x="502920" y="877824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Target Variable: TotalRevenue (£ per Week)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7"/>
          <p:cNvSpPr/>
          <p:nvPr/>
        </p:nvSpPr>
        <p:spPr>
          <a:xfrm>
            <a:off x="502920" y="1261872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Definition: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7"/>
          <p:cNvSpPr/>
          <p:nvPr/>
        </p:nvSpPr>
        <p:spPr>
          <a:xfrm>
            <a:off x="1810512" y="1261872"/>
            <a:ext cx="33375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 of (Quantity × Price) for all clean transactions per ISO week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7"/>
          <p:cNvSpPr/>
          <p:nvPr/>
        </p:nvSpPr>
        <p:spPr>
          <a:xfrm>
            <a:off x="502920" y="1499616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Granularity: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/>
          <p:nvPr/>
        </p:nvSpPr>
        <p:spPr>
          <a:xfrm>
            <a:off x="1810512" y="1499616"/>
            <a:ext cx="33375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Weekly — Monday to Sunday (ISO calendar)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7"/>
          <p:cNvSpPr/>
          <p:nvPr/>
        </p:nvSpPr>
        <p:spPr>
          <a:xfrm>
            <a:off x="502920" y="1737360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Aggregation: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7"/>
          <p:cNvSpPr/>
          <p:nvPr/>
        </p:nvSpPr>
        <p:spPr>
          <a:xfrm>
            <a:off x="1810385" y="1737360"/>
            <a:ext cx="3493135" cy="219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Weekly aggregation of transactions (WeekStart revenue) for consistent modeling and clustering.</a:t>
            </a:r>
          </a:p>
        </p:txBody>
      </p:sp>
      <p:sp>
        <p:nvSpPr>
          <p:cNvPr id="370" name="Google Shape;370;p7"/>
          <p:cNvSpPr/>
          <p:nvPr/>
        </p:nvSpPr>
        <p:spPr>
          <a:xfrm>
            <a:off x="502920" y="197510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Distribution: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1810512" y="1975104"/>
            <a:ext cx="33375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Mean = £193.2k | Median = £170.9k | Holiday spike: +50–65%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/>
          <p:nvPr/>
        </p:nvSpPr>
        <p:spPr>
          <a:xfrm>
            <a:off x="5440680" y="804672"/>
            <a:ext cx="3383280" cy="1463040"/>
          </a:xfrm>
          <a:prstGeom prst="rect">
            <a:avLst/>
          </a:prstGeom>
          <a:solidFill>
            <a:srgbClr val="431407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7"/>
          <p:cNvSpPr/>
          <p:nvPr/>
        </p:nvSpPr>
        <p:spPr>
          <a:xfrm>
            <a:off x="5440680" y="804672"/>
            <a:ext cx="64008" cy="146304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7"/>
          <p:cNvSpPr/>
          <p:nvPr/>
        </p:nvSpPr>
        <p:spPr>
          <a:xfrm>
            <a:off x="5577840" y="87782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Holiday Season Impact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7"/>
          <p:cNvSpPr/>
          <p:nvPr/>
        </p:nvSpPr>
        <p:spPr>
          <a:xfrm>
            <a:off x="5577840" y="118872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+50% – 65%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5577840" y="171907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above baseline in Nov–Dec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7"/>
          <p:cNvSpPr/>
          <p:nvPr/>
        </p:nvSpPr>
        <p:spPr>
          <a:xfrm>
            <a:off x="320040" y="239572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Direct Features (9)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7"/>
          <p:cNvSpPr/>
          <p:nvPr/>
        </p:nvSpPr>
        <p:spPr>
          <a:xfrm>
            <a:off x="320040" y="2743200"/>
            <a:ext cx="1417320" cy="310896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7"/>
          <p:cNvSpPr/>
          <p:nvPr/>
        </p:nvSpPr>
        <p:spPr>
          <a:xfrm>
            <a:off x="320040" y="2743200"/>
            <a:ext cx="1417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Year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7"/>
          <p:cNvSpPr/>
          <p:nvPr/>
        </p:nvSpPr>
        <p:spPr>
          <a:xfrm>
            <a:off x="1828800" y="2743200"/>
            <a:ext cx="1417320" cy="310896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7"/>
          <p:cNvSpPr/>
          <p:nvPr/>
        </p:nvSpPr>
        <p:spPr>
          <a:xfrm>
            <a:off x="1828800" y="2743200"/>
            <a:ext cx="1417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Month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7"/>
          <p:cNvSpPr/>
          <p:nvPr/>
        </p:nvSpPr>
        <p:spPr>
          <a:xfrm>
            <a:off x="3337560" y="2743200"/>
            <a:ext cx="1193800" cy="31115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7"/>
          <p:cNvSpPr/>
          <p:nvPr/>
        </p:nvSpPr>
        <p:spPr>
          <a:xfrm>
            <a:off x="3337560" y="2743200"/>
            <a:ext cx="1200150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WeekNum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7"/>
          <p:cNvSpPr/>
          <p:nvPr/>
        </p:nvSpPr>
        <p:spPr>
          <a:xfrm>
            <a:off x="320040" y="3127248"/>
            <a:ext cx="1417320" cy="310896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7"/>
          <p:cNvSpPr/>
          <p:nvPr/>
        </p:nvSpPr>
        <p:spPr>
          <a:xfrm>
            <a:off x="338455" y="3154553"/>
            <a:ext cx="1417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Quarter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7"/>
          <p:cNvSpPr/>
          <p:nvPr/>
        </p:nvSpPr>
        <p:spPr>
          <a:xfrm>
            <a:off x="1828800" y="3127248"/>
            <a:ext cx="1417320" cy="310896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7"/>
          <p:cNvSpPr/>
          <p:nvPr/>
        </p:nvSpPr>
        <p:spPr>
          <a:xfrm>
            <a:off x="1828800" y="3125978"/>
            <a:ext cx="1417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AvgPrice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7"/>
          <p:cNvSpPr/>
          <p:nvPr/>
        </p:nvSpPr>
        <p:spPr>
          <a:xfrm>
            <a:off x="3337560" y="3127375"/>
            <a:ext cx="1200150" cy="31115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7"/>
          <p:cNvSpPr/>
          <p:nvPr/>
        </p:nvSpPr>
        <p:spPr>
          <a:xfrm>
            <a:off x="3337560" y="3126740"/>
            <a:ext cx="1185545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NumInvoices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7"/>
          <p:cNvSpPr/>
          <p:nvPr/>
        </p:nvSpPr>
        <p:spPr>
          <a:xfrm>
            <a:off x="320040" y="3511296"/>
            <a:ext cx="1417320" cy="310896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7"/>
          <p:cNvSpPr/>
          <p:nvPr/>
        </p:nvSpPr>
        <p:spPr>
          <a:xfrm>
            <a:off x="320040" y="3511296"/>
            <a:ext cx="1417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NumProducts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7"/>
          <p:cNvSpPr/>
          <p:nvPr/>
        </p:nvSpPr>
        <p:spPr>
          <a:xfrm>
            <a:off x="1828800" y="3511296"/>
            <a:ext cx="1417320" cy="310896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7"/>
          <p:cNvSpPr/>
          <p:nvPr/>
        </p:nvSpPr>
        <p:spPr>
          <a:xfrm>
            <a:off x="1828800" y="3501771"/>
            <a:ext cx="1417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NumCustomers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7"/>
          <p:cNvSpPr/>
          <p:nvPr/>
        </p:nvSpPr>
        <p:spPr>
          <a:xfrm>
            <a:off x="3337560" y="3511550"/>
            <a:ext cx="1185545" cy="31115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7"/>
          <p:cNvSpPr/>
          <p:nvPr/>
        </p:nvSpPr>
        <p:spPr>
          <a:xfrm>
            <a:off x="3364865" y="3511550"/>
            <a:ext cx="1158240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TotalQuantity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7"/>
          <p:cNvSpPr/>
          <p:nvPr/>
        </p:nvSpPr>
        <p:spPr>
          <a:xfrm>
            <a:off x="4617720" y="2395728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Derived / Engineered Features (17)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7"/>
          <p:cNvSpPr/>
          <p:nvPr/>
        </p:nvSpPr>
        <p:spPr>
          <a:xfrm>
            <a:off x="4663440" y="2743200"/>
            <a:ext cx="64008" cy="27432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7"/>
          <p:cNvSpPr/>
          <p:nvPr/>
        </p:nvSpPr>
        <p:spPr>
          <a:xfrm>
            <a:off x="4782312" y="2743200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Rev_Lag1–4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7"/>
          <p:cNvSpPr/>
          <p:nvPr/>
        </p:nvSpPr>
        <p:spPr>
          <a:xfrm>
            <a:off x="4782312" y="2889504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Short-term autocorr.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7"/>
          <p:cNvSpPr/>
          <p:nvPr/>
        </p:nvSpPr>
        <p:spPr>
          <a:xfrm>
            <a:off x="4663440" y="3090672"/>
            <a:ext cx="64008" cy="27432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7"/>
          <p:cNvSpPr/>
          <p:nvPr/>
        </p:nvSpPr>
        <p:spPr>
          <a:xfrm>
            <a:off x="4782312" y="3090672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Rev_Lag8, Lag12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7"/>
          <p:cNvSpPr/>
          <p:nvPr/>
        </p:nvSpPr>
        <p:spPr>
          <a:xfrm>
            <a:off x="4782312" y="3236976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Bi-monthly / quarterly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7"/>
          <p:cNvSpPr/>
          <p:nvPr/>
        </p:nvSpPr>
        <p:spPr>
          <a:xfrm>
            <a:off x="4663440" y="3438144"/>
            <a:ext cx="64008" cy="27432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7"/>
          <p:cNvSpPr/>
          <p:nvPr/>
        </p:nvSpPr>
        <p:spPr>
          <a:xfrm>
            <a:off x="4782312" y="3438144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Rev_Lag52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7"/>
          <p:cNvSpPr/>
          <p:nvPr/>
        </p:nvSpPr>
        <p:spPr>
          <a:xfrm>
            <a:off x="4782312" y="3584448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Year-over-year comp.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7"/>
          <p:cNvSpPr/>
          <p:nvPr/>
        </p:nvSpPr>
        <p:spPr>
          <a:xfrm>
            <a:off x="4663440" y="3785616"/>
            <a:ext cx="64008" cy="2743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7"/>
          <p:cNvSpPr/>
          <p:nvPr/>
        </p:nvSpPr>
        <p:spPr>
          <a:xfrm>
            <a:off x="4782312" y="3785616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Roll4_Mean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7"/>
          <p:cNvSpPr/>
          <p:nvPr/>
        </p:nvSpPr>
        <p:spPr>
          <a:xfrm>
            <a:off x="4782312" y="3931920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4-wk rolling average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7"/>
          <p:cNvSpPr/>
          <p:nvPr/>
        </p:nvSpPr>
        <p:spPr>
          <a:xfrm>
            <a:off x="4663440" y="4133088"/>
            <a:ext cx="64008" cy="2743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7"/>
          <p:cNvSpPr/>
          <p:nvPr/>
        </p:nvSpPr>
        <p:spPr>
          <a:xfrm>
            <a:off x="4782312" y="4133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Roll12_Mean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7"/>
          <p:cNvSpPr/>
          <p:nvPr/>
        </p:nvSpPr>
        <p:spPr>
          <a:xfrm>
            <a:off x="4782312" y="4279392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12-wk baseline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7"/>
          <p:cNvSpPr/>
          <p:nvPr/>
        </p:nvSpPr>
        <p:spPr>
          <a:xfrm>
            <a:off x="4663440" y="4480560"/>
            <a:ext cx="64008" cy="2743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7"/>
          <p:cNvSpPr/>
          <p:nvPr/>
        </p:nvSpPr>
        <p:spPr>
          <a:xfrm>
            <a:off x="4782312" y="4480560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Roll4_Std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7"/>
          <p:cNvSpPr/>
          <p:nvPr/>
        </p:nvSpPr>
        <p:spPr>
          <a:xfrm>
            <a:off x="4782312" y="4626864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Revenue volatility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7"/>
          <p:cNvSpPr/>
          <p:nvPr/>
        </p:nvSpPr>
        <p:spPr>
          <a:xfrm>
            <a:off x="6812280" y="2743200"/>
            <a:ext cx="64008" cy="2743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7"/>
          <p:cNvSpPr/>
          <p:nvPr/>
        </p:nvSpPr>
        <p:spPr>
          <a:xfrm>
            <a:off x="6931152" y="2743200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HolidaySeason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7"/>
          <p:cNvSpPr/>
          <p:nvPr/>
        </p:nvSpPr>
        <p:spPr>
          <a:xfrm>
            <a:off x="6931152" y="2889504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Nov–Dec flag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7"/>
          <p:cNvSpPr/>
          <p:nvPr/>
        </p:nvSpPr>
        <p:spPr>
          <a:xfrm>
            <a:off x="6812280" y="3090672"/>
            <a:ext cx="64008" cy="2743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7"/>
          <p:cNvSpPr/>
          <p:nvPr/>
        </p:nvSpPr>
        <p:spPr>
          <a:xfrm>
            <a:off x="6931152" y="3090672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PreHoliday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7"/>
          <p:cNvSpPr/>
          <p:nvPr/>
        </p:nvSpPr>
        <p:spPr>
          <a:xfrm>
            <a:off x="6931152" y="3236976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October ramp-up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7"/>
          <p:cNvSpPr/>
          <p:nvPr/>
        </p:nvSpPr>
        <p:spPr>
          <a:xfrm>
            <a:off x="6812280" y="3438144"/>
            <a:ext cx="64008" cy="2743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7"/>
          <p:cNvSpPr/>
          <p:nvPr/>
        </p:nvSpPr>
        <p:spPr>
          <a:xfrm>
            <a:off x="6931152" y="3438144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PostHoliday / SummerPeak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7"/>
          <p:cNvSpPr/>
          <p:nvPr/>
        </p:nvSpPr>
        <p:spPr>
          <a:xfrm>
            <a:off x="6931152" y="3584448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Jan / Jun–Jul flags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7"/>
          <p:cNvSpPr/>
          <p:nvPr/>
        </p:nvSpPr>
        <p:spPr>
          <a:xfrm>
            <a:off x="6812280" y="3785616"/>
            <a:ext cx="64008" cy="27432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7"/>
          <p:cNvSpPr/>
          <p:nvPr/>
        </p:nvSpPr>
        <p:spPr>
          <a:xfrm>
            <a:off x="6931152" y="3785616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AvgPrice_Lag1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7"/>
          <p:cNvSpPr/>
          <p:nvPr/>
        </p:nvSpPr>
        <p:spPr>
          <a:xfrm>
            <a:off x="6931152" y="3931920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Lagged pricing signal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7"/>
          <p:cNvSpPr/>
          <p:nvPr/>
        </p:nvSpPr>
        <p:spPr>
          <a:xfrm>
            <a:off x="6812280" y="4133088"/>
            <a:ext cx="64008" cy="27432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7"/>
          <p:cNvSpPr/>
          <p:nvPr/>
        </p:nvSpPr>
        <p:spPr>
          <a:xfrm>
            <a:off x="6931152" y="4133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WeekIndex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7"/>
          <p:cNvSpPr/>
          <p:nvPr/>
        </p:nvSpPr>
        <p:spPr>
          <a:xfrm>
            <a:off x="6931152" y="4279392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Global linear trend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7"/>
          <p:cNvSpPr/>
          <p:nvPr/>
        </p:nvSpPr>
        <p:spPr>
          <a:xfrm>
            <a:off x="6675120" y="4531995"/>
            <a:ext cx="2468880" cy="360045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7"/>
          <p:cNvSpPr/>
          <p:nvPr/>
        </p:nvSpPr>
        <p:spPr>
          <a:xfrm>
            <a:off x="6675755" y="4544695"/>
            <a:ext cx="2384425" cy="34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Total: 26 Features used in final model</a:t>
            </a:r>
            <a:endParaRPr sz="9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Pre-Modeling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</a:rPr>
              <a:t>ADF Test  |  Time-Ordered Train / Test Split (70/30)  |  Gradient Boosting Config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Sales Revenue Forecasting — Online Retail|  Deliverable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49935"/>
            <a:ext cx="8595360" cy="164719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70 / 30  TIME-ORDERED  TRAIN / TEST  SPLIT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060450"/>
            <a:ext cx="2536190" cy="384175"/>
          </a:xfrm>
          <a:prstGeom prst="rect">
            <a:avLst/>
          </a:prstGeom>
          <a:solidFill>
            <a:srgbClr val="0D9488">
              <a:alpha val="85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024255"/>
            <a:ext cx="2141855" cy="2927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>
              <a:spcAft>
                <a:spcPts val="300"/>
              </a:spcAft>
              <a:buSzPct val="100000"/>
              <a:buNone/>
            </a:pPr>
            <a:r>
              <a:rPr lang="en-US" sz="1200" b="1" dirty="0">
                <a:solidFill>
                  <a:schemeClr val="bg1"/>
                </a:solidFill>
                <a:latin typeface="Calibri" charset="0"/>
                <a:ea typeface="Calibri" pitchFamily="34" charset="-122"/>
                <a:cs typeface="Calibri" pitchFamily="34" charset="-120"/>
                <a:sym typeface="+mn-ea"/>
              </a:rPr>
              <a:t>Train: first 70% of weeks</a:t>
            </a:r>
          </a:p>
        </p:txBody>
      </p:sp>
      <p:sp>
        <p:nvSpPr>
          <p:cNvPr id="13" name="Text 11"/>
          <p:cNvSpPr/>
          <p:nvPr/>
        </p:nvSpPr>
        <p:spPr>
          <a:xfrm>
            <a:off x="365760" y="1170305"/>
            <a:ext cx="2103120" cy="2927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Dec 2009 – Jun 2011  |  Model training</a:t>
            </a:r>
          </a:p>
        </p:txBody>
      </p:sp>
      <p:sp>
        <p:nvSpPr>
          <p:cNvPr id="14" name="Shape 12"/>
          <p:cNvSpPr/>
          <p:nvPr/>
        </p:nvSpPr>
        <p:spPr>
          <a:xfrm>
            <a:off x="365760" y="1463040"/>
            <a:ext cx="2534920" cy="260985"/>
          </a:xfrm>
          <a:prstGeom prst="rect">
            <a:avLst/>
          </a:prstGeom>
          <a:solidFill>
            <a:srgbClr val="F59E0B">
              <a:alpha val="85000"/>
            </a:srgbClr>
          </a:solidFill>
        </p:spPr>
        <p:txBody>
          <a:bodyPr/>
          <a:lstStyle/>
          <a:p>
            <a:pPr indent="0">
              <a:spcAft>
                <a:spcPts val="300"/>
              </a:spcAft>
              <a:buSzPct val="100000"/>
              <a:buNone/>
            </a:pPr>
            <a:r>
              <a:rPr lang="en-US" sz="1000" b="1" dirty="0">
                <a:solidFill>
                  <a:schemeClr val="bg1"/>
                </a:solidFill>
                <a:latin typeface="Calibri" charset="0"/>
                <a:ea typeface="Calibri" pitchFamily="34" charset="-122"/>
                <a:cs typeface="Calibri" pitchFamily="34" charset="-120"/>
                <a:sym typeface="+mn-ea"/>
              </a:rPr>
              <a:t>Validation: next 15% (model selection)</a:t>
            </a:r>
          </a:p>
        </p:txBody>
      </p:sp>
      <p:sp>
        <p:nvSpPr>
          <p:cNvPr id="15" name="Text 13"/>
          <p:cNvSpPr/>
          <p:nvPr/>
        </p:nvSpPr>
        <p:spPr>
          <a:xfrm>
            <a:off x="5532120" y="1097280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TEST — 30%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32120" y="137160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Fully held out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7030" y="1754505"/>
            <a:ext cx="2534920" cy="260350"/>
          </a:xfrm>
          <a:prstGeom prst="rect">
            <a:avLst/>
          </a:prstGeom>
          <a:solidFill>
            <a:srgbClr val="EF4444">
              <a:alpha val="85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86600" y="1097280"/>
            <a:ext cx="1645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86600" y="1371600"/>
            <a:ext cx="1645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Jun 2011 – Dec 2011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404745"/>
            <a:ext cx="4114800" cy="24987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2404745"/>
            <a:ext cx="4114800" cy="255905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404745"/>
            <a:ext cx="4114800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STATIONARITY ANALYSIS (SARIMA)</a:t>
            </a:r>
          </a:p>
        </p:txBody>
      </p:sp>
      <p:sp>
        <p:nvSpPr>
          <p:cNvPr id="23" name="Text 21"/>
          <p:cNvSpPr/>
          <p:nvPr/>
        </p:nvSpPr>
        <p:spPr>
          <a:xfrm>
            <a:off x="411480" y="2715895"/>
            <a:ext cx="1828800" cy="4095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D9488"/>
                </a:solidFill>
              </a:rPr>
              <a:t>ADF (original)</a:t>
            </a:r>
          </a:p>
        </p:txBody>
      </p:sp>
      <p:sp>
        <p:nvSpPr>
          <p:cNvPr id="24" name="Text 22"/>
          <p:cNvSpPr/>
          <p:nvPr/>
        </p:nvSpPr>
        <p:spPr>
          <a:xfrm>
            <a:off x="2240280" y="2715895"/>
            <a:ext cx="2011680" cy="4095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4155"/>
                </a:solidFill>
              </a:rPr>
              <a:t>Confirms d parameter</a:t>
            </a:r>
          </a:p>
        </p:txBody>
      </p:sp>
      <p:sp>
        <p:nvSpPr>
          <p:cNvPr id="25" name="Text 23"/>
          <p:cNvSpPr/>
          <p:nvPr/>
        </p:nvSpPr>
        <p:spPr>
          <a:xfrm>
            <a:off x="411480" y="3209290"/>
            <a:ext cx="1828800" cy="4095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D9488"/>
                </a:solidFill>
              </a:rPr>
              <a:t>ADF (differenced)</a:t>
            </a:r>
          </a:p>
        </p:txBody>
      </p:sp>
      <p:sp>
        <p:nvSpPr>
          <p:cNvPr id="26" name="Text 24"/>
          <p:cNvSpPr/>
          <p:nvPr/>
        </p:nvSpPr>
        <p:spPr>
          <a:xfrm>
            <a:off x="2240280" y="3209290"/>
            <a:ext cx="2011680" cy="4095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4155"/>
                </a:solidFill>
              </a:rPr>
              <a:t>Stationary at d=1</a:t>
            </a:r>
          </a:p>
        </p:txBody>
      </p:sp>
      <p:sp>
        <p:nvSpPr>
          <p:cNvPr id="27" name="Text 25"/>
          <p:cNvSpPr/>
          <p:nvPr/>
        </p:nvSpPr>
        <p:spPr>
          <a:xfrm>
            <a:off x="411480" y="3703320"/>
            <a:ext cx="1828800" cy="4095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D9488"/>
                </a:solidFill>
              </a:rPr>
              <a:t>ACF plot</a:t>
            </a:r>
          </a:p>
        </p:txBody>
      </p:sp>
      <p:sp>
        <p:nvSpPr>
          <p:cNvPr id="28" name="Text 26"/>
          <p:cNvSpPr/>
          <p:nvPr/>
        </p:nvSpPr>
        <p:spPr>
          <a:xfrm>
            <a:off x="2240280" y="3703320"/>
            <a:ext cx="2011680" cy="4095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4155"/>
                </a:solidFill>
              </a:rPr>
              <a:t>q=1 (cuts off at lag 1)</a:t>
            </a:r>
          </a:p>
        </p:txBody>
      </p:sp>
      <p:sp>
        <p:nvSpPr>
          <p:cNvPr id="29" name="Text 27"/>
          <p:cNvSpPr/>
          <p:nvPr/>
        </p:nvSpPr>
        <p:spPr>
          <a:xfrm>
            <a:off x="411480" y="4197350"/>
            <a:ext cx="1828800" cy="4095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D9488"/>
                </a:solidFill>
              </a:rPr>
              <a:t>PACF plot</a:t>
            </a:r>
          </a:p>
        </p:txBody>
      </p:sp>
      <p:sp>
        <p:nvSpPr>
          <p:cNvPr id="30" name="Text 28"/>
          <p:cNvSpPr/>
          <p:nvPr/>
        </p:nvSpPr>
        <p:spPr>
          <a:xfrm>
            <a:off x="2240280" y="4197350"/>
            <a:ext cx="2011680" cy="4095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4155"/>
                </a:solidFill>
              </a:rPr>
              <a:t>p=1 (cuts off at lag 1)</a:t>
            </a:r>
          </a:p>
        </p:txBody>
      </p:sp>
      <p:sp>
        <p:nvSpPr>
          <p:cNvPr id="31" name="Text 29"/>
          <p:cNvSpPr/>
          <p:nvPr/>
        </p:nvSpPr>
        <p:spPr>
          <a:xfrm>
            <a:off x="411480" y="4709160"/>
            <a:ext cx="3657600" cy="1282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94A3B8"/>
                </a:solidFill>
              </a:rPr>
              <a:t>Final Config: SARIMA (1,1,1)(1,1,1,4)</a:t>
            </a:r>
          </a:p>
        </p:txBody>
      </p:sp>
      <p:sp>
        <p:nvSpPr>
          <p:cNvPr id="32" name="Shape 30"/>
          <p:cNvSpPr/>
          <p:nvPr/>
        </p:nvSpPr>
        <p:spPr>
          <a:xfrm>
            <a:off x="4617720" y="2397125"/>
            <a:ext cx="4251960" cy="249301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17720" y="2397125"/>
            <a:ext cx="4206240" cy="25527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17720" y="2397125"/>
            <a:ext cx="4206240" cy="2552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GRADIENT BOOSTING HYPERPARAMETERS</a:t>
            </a:r>
          </a:p>
        </p:txBody>
      </p:sp>
      <p:sp>
        <p:nvSpPr>
          <p:cNvPr id="35" name="Shape 33"/>
          <p:cNvSpPr/>
          <p:nvPr/>
        </p:nvSpPr>
        <p:spPr>
          <a:xfrm>
            <a:off x="4709160" y="2708275"/>
            <a:ext cx="1325880" cy="238760"/>
          </a:xfrm>
          <a:prstGeom prst="rect">
            <a:avLst/>
          </a:prstGeom>
          <a:solidFill>
            <a:srgbClr val="1A3352"/>
          </a:solidFill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09160" y="2708275"/>
            <a:ext cx="1325880" cy="23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37" name="Shape 35"/>
          <p:cNvSpPr/>
          <p:nvPr/>
        </p:nvSpPr>
        <p:spPr>
          <a:xfrm>
            <a:off x="6035040" y="2708275"/>
            <a:ext cx="1325880" cy="238760"/>
          </a:xfrm>
          <a:prstGeom prst="rect">
            <a:avLst/>
          </a:prstGeom>
          <a:solidFill>
            <a:srgbClr val="1A3352"/>
          </a:solidFill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035040" y="2708275"/>
            <a:ext cx="1325880" cy="23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Normal Markets</a:t>
            </a:r>
          </a:p>
        </p:txBody>
      </p:sp>
      <p:sp>
        <p:nvSpPr>
          <p:cNvPr id="39" name="Shape 37"/>
          <p:cNvSpPr/>
          <p:nvPr/>
        </p:nvSpPr>
        <p:spPr>
          <a:xfrm>
            <a:off x="7360920" y="2708275"/>
            <a:ext cx="1325880" cy="238760"/>
          </a:xfrm>
          <a:prstGeom prst="rect">
            <a:avLst/>
          </a:prstGeom>
          <a:solidFill>
            <a:srgbClr val="1A3352"/>
          </a:solidFill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360920" y="2708275"/>
            <a:ext cx="1325880" cy="23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Volatile Markets</a:t>
            </a:r>
          </a:p>
        </p:txBody>
      </p:sp>
      <p:sp>
        <p:nvSpPr>
          <p:cNvPr id="41" name="Shape 39"/>
          <p:cNvSpPr/>
          <p:nvPr/>
        </p:nvSpPr>
        <p:spPr>
          <a:xfrm>
            <a:off x="4709160" y="2982595"/>
            <a:ext cx="3977640" cy="357505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09160" y="2982595"/>
            <a:ext cx="1325880" cy="3575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</a:rPr>
              <a:t>n_estimators</a:t>
            </a:r>
          </a:p>
        </p:txBody>
      </p:sp>
      <p:sp>
        <p:nvSpPr>
          <p:cNvPr id="43" name="Text 41"/>
          <p:cNvSpPr/>
          <p:nvPr/>
        </p:nvSpPr>
        <p:spPr>
          <a:xfrm>
            <a:off x="6035040" y="2982595"/>
            <a:ext cx="1325880" cy="3575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9488"/>
                </a:solidFill>
              </a:rPr>
              <a:t>300</a:t>
            </a:r>
          </a:p>
        </p:txBody>
      </p:sp>
      <p:sp>
        <p:nvSpPr>
          <p:cNvPr id="44" name="Text 42"/>
          <p:cNvSpPr/>
          <p:nvPr/>
        </p:nvSpPr>
        <p:spPr>
          <a:xfrm>
            <a:off x="7360920" y="2982595"/>
            <a:ext cx="1325880" cy="3575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9488"/>
                </a:solidFill>
              </a:rPr>
              <a:t>300</a:t>
            </a:r>
          </a:p>
        </p:txBody>
      </p:sp>
      <p:sp>
        <p:nvSpPr>
          <p:cNvPr id="45" name="Text 43"/>
          <p:cNvSpPr/>
          <p:nvPr/>
        </p:nvSpPr>
        <p:spPr>
          <a:xfrm>
            <a:off x="4709160" y="3384550"/>
            <a:ext cx="1325880" cy="3575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</a:rPr>
              <a:t>learning_rate</a:t>
            </a:r>
          </a:p>
        </p:txBody>
      </p:sp>
      <p:sp>
        <p:nvSpPr>
          <p:cNvPr id="46" name="Text 44"/>
          <p:cNvSpPr/>
          <p:nvPr/>
        </p:nvSpPr>
        <p:spPr>
          <a:xfrm>
            <a:off x="6035040" y="3384550"/>
            <a:ext cx="1325880" cy="3575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9488"/>
                </a:solidFill>
              </a:rPr>
              <a:t>0.05</a:t>
            </a:r>
          </a:p>
        </p:txBody>
      </p:sp>
      <p:sp>
        <p:nvSpPr>
          <p:cNvPr id="47" name="Text 45"/>
          <p:cNvSpPr/>
          <p:nvPr/>
        </p:nvSpPr>
        <p:spPr>
          <a:xfrm>
            <a:off x="7360920" y="3384550"/>
            <a:ext cx="1325880" cy="3575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9488"/>
                </a:solidFill>
              </a:rPr>
              <a:t>0.02 (slower)</a:t>
            </a:r>
          </a:p>
        </p:txBody>
      </p:sp>
      <p:sp>
        <p:nvSpPr>
          <p:cNvPr id="48" name="Shape 46"/>
          <p:cNvSpPr/>
          <p:nvPr/>
        </p:nvSpPr>
        <p:spPr>
          <a:xfrm>
            <a:off x="4709160" y="3787140"/>
            <a:ext cx="3977640" cy="357505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09160" y="3787140"/>
            <a:ext cx="1325880" cy="3575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</a:rPr>
              <a:t>max_depth</a:t>
            </a:r>
          </a:p>
        </p:txBody>
      </p:sp>
      <p:sp>
        <p:nvSpPr>
          <p:cNvPr id="50" name="Text 48"/>
          <p:cNvSpPr/>
          <p:nvPr/>
        </p:nvSpPr>
        <p:spPr>
          <a:xfrm>
            <a:off x="6035040" y="3787140"/>
            <a:ext cx="1325880" cy="3575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9488"/>
                </a:solidFill>
              </a:rPr>
              <a:t>4</a:t>
            </a:r>
          </a:p>
        </p:txBody>
      </p:sp>
      <p:sp>
        <p:nvSpPr>
          <p:cNvPr id="51" name="Text 49"/>
          <p:cNvSpPr/>
          <p:nvPr/>
        </p:nvSpPr>
        <p:spPr>
          <a:xfrm>
            <a:off x="7360920" y="3787140"/>
            <a:ext cx="1325880" cy="3575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9488"/>
                </a:solidFill>
              </a:rPr>
              <a:t>3 (simpler)</a:t>
            </a:r>
          </a:p>
        </p:txBody>
      </p:sp>
      <p:sp>
        <p:nvSpPr>
          <p:cNvPr id="52" name="Text 50"/>
          <p:cNvSpPr/>
          <p:nvPr/>
        </p:nvSpPr>
        <p:spPr>
          <a:xfrm>
            <a:off x="4709160" y="4189730"/>
            <a:ext cx="1325880" cy="3575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</a:rPr>
              <a:t>subsample</a:t>
            </a:r>
          </a:p>
        </p:txBody>
      </p:sp>
      <p:sp>
        <p:nvSpPr>
          <p:cNvPr id="53" name="Text 51"/>
          <p:cNvSpPr/>
          <p:nvPr/>
        </p:nvSpPr>
        <p:spPr>
          <a:xfrm>
            <a:off x="6035040" y="4189730"/>
            <a:ext cx="1325880" cy="3575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9488"/>
                </a:solidFill>
              </a:rPr>
              <a:t>0.8</a:t>
            </a:r>
          </a:p>
        </p:txBody>
      </p:sp>
      <p:sp>
        <p:nvSpPr>
          <p:cNvPr id="54" name="Text 52"/>
          <p:cNvSpPr/>
          <p:nvPr/>
        </p:nvSpPr>
        <p:spPr>
          <a:xfrm>
            <a:off x="7360920" y="4189730"/>
            <a:ext cx="1325880" cy="3575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9488"/>
                </a:solidFill>
              </a:rPr>
              <a:t>0.7</a:t>
            </a:r>
          </a:p>
        </p:txBody>
      </p:sp>
      <p:sp>
        <p:nvSpPr>
          <p:cNvPr id="55" name="Shape 53"/>
          <p:cNvSpPr/>
          <p:nvPr/>
        </p:nvSpPr>
        <p:spPr>
          <a:xfrm>
            <a:off x="4709160" y="4591685"/>
            <a:ext cx="3977640" cy="357505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709160" y="4591685"/>
            <a:ext cx="1325880" cy="3575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</a:rPr>
              <a:t>min_samples_leaf</a:t>
            </a:r>
          </a:p>
        </p:txBody>
      </p:sp>
      <p:sp>
        <p:nvSpPr>
          <p:cNvPr id="57" name="Text 55"/>
          <p:cNvSpPr/>
          <p:nvPr/>
        </p:nvSpPr>
        <p:spPr>
          <a:xfrm>
            <a:off x="6035040" y="4591685"/>
            <a:ext cx="1325880" cy="3575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9488"/>
                </a:solidFill>
              </a:rPr>
              <a:t>3</a:t>
            </a:r>
          </a:p>
        </p:txBody>
      </p:sp>
      <p:sp>
        <p:nvSpPr>
          <p:cNvPr id="58" name="Text 56"/>
          <p:cNvSpPr/>
          <p:nvPr/>
        </p:nvSpPr>
        <p:spPr>
          <a:xfrm>
            <a:off x="7360920" y="4591685"/>
            <a:ext cx="1325880" cy="3575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9488"/>
                </a:solidFill>
              </a:rPr>
              <a:t>5 (smoother)</a:t>
            </a:r>
          </a:p>
        </p:txBody>
      </p:sp>
      <p:sp>
        <p:nvSpPr>
          <p:cNvPr id="60" name="Text Box 59"/>
          <p:cNvSpPr txBox="1"/>
          <p:nvPr/>
        </p:nvSpPr>
        <p:spPr>
          <a:xfrm>
            <a:off x="320040" y="1754505"/>
            <a:ext cx="2657475" cy="245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>
              <a:spcAft>
                <a:spcPts val="300"/>
              </a:spcAft>
              <a:buSzPct val="100000"/>
              <a:buNone/>
            </a:pPr>
            <a:r>
              <a:rPr lang="en-US" sz="1000" b="1" dirty="0">
                <a:solidFill>
                  <a:schemeClr val="bg1"/>
                </a:solidFill>
                <a:latin typeface="Calibri" charset="0"/>
                <a:ea typeface="Calibri" pitchFamily="34" charset="-122"/>
                <a:cs typeface="Calibri" pitchFamily="34" charset="-120"/>
                <a:sym typeface="+mn-ea"/>
              </a:rPr>
              <a:t>Test: final 15% (never used for modeling)</a:t>
            </a:r>
          </a:p>
        </p:txBody>
      </p:sp>
      <p:pic>
        <p:nvPicPr>
          <p:cNvPr id="61" name="Image 0" descr="/mnt/data/generated_imgs/cell1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320" y="1034415"/>
            <a:ext cx="5482590" cy="13500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Model Building — Three Approaches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</a:rPr>
              <a:t>SARIMA  |  Facebook Prophet  |  Gradient Boosting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Sales Revenue Forecasting — Online Retail|  Deliverable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274320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2743200" cy="329184"/>
          </a:xfrm>
          <a:prstGeom prst="rect">
            <a:avLst/>
          </a:prstGeom>
          <a:solidFill>
            <a:srgbClr val="1A3352">
              <a:alpha val="7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768096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SARIMA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(1,1,1)(1,1,1,4)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1335024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352"/>
                </a:solidFill>
              </a:rPr>
              <a:t>Configuration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1536192"/>
            <a:ext cx="25237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352"/>
                </a:solidFill>
              </a:rPr>
              <a:t>· </a:t>
            </a:r>
            <a:r>
              <a:rPr lang="en-US" sz="800" dirty="0">
                <a:solidFill>
                  <a:srgbClr val="334155"/>
                </a:solidFill>
              </a:rPr>
              <a:t>p=1: AR order (PACF lag 1)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4048" y="1847088"/>
            <a:ext cx="25237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352"/>
                </a:solidFill>
              </a:rPr>
              <a:t>· </a:t>
            </a:r>
            <a:r>
              <a:rPr lang="en-US" sz="800" dirty="0">
                <a:solidFill>
                  <a:srgbClr val="334155"/>
                </a:solidFill>
              </a:rPr>
              <a:t>d=1: Differencing (ADF test)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4048" y="2157984"/>
            <a:ext cx="25237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352"/>
                </a:solidFill>
              </a:rPr>
              <a:t>· </a:t>
            </a:r>
            <a:r>
              <a:rPr lang="en-US" sz="800" dirty="0">
                <a:solidFill>
                  <a:srgbClr val="334155"/>
                </a:solidFill>
              </a:rPr>
              <a:t>q=1: MA order (ACF lag 1)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4048" y="2468880"/>
            <a:ext cx="25237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352"/>
                </a:solidFill>
              </a:rPr>
              <a:t>· </a:t>
            </a:r>
            <a:r>
              <a:rPr lang="en-US" sz="800" dirty="0">
                <a:solidFill>
                  <a:srgbClr val="334155"/>
                </a:solidFill>
              </a:rPr>
              <a:t>s=4: Monthly seasonal proxy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816352"/>
            <a:ext cx="2560320" cy="9144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2852928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Strengths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4048" y="3063240"/>
            <a:ext cx="2523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+ Native seasonality &amp; conf. intervals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84048" y="3337560"/>
            <a:ext cx="2523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+ No feature engineering needed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84048" y="3611880"/>
            <a:ext cx="2523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+ Full interpretability &amp; audit trail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65760" y="3913632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✗ Limitations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4048" y="4114800"/>
            <a:ext cx="252374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– Cannot use exogenous features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84048" y="4370832"/>
            <a:ext cx="252374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– Slow at s=52; linear only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200400" y="749808"/>
            <a:ext cx="274320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0" y="749808"/>
            <a:ext cx="2743200" cy="329184"/>
          </a:xfrm>
          <a:prstGeom prst="rect">
            <a:avLst/>
          </a:prstGeom>
          <a:solidFill>
            <a:srgbClr val="7C3AED">
              <a:alpha val="7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91840" y="768096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Facebook Prophet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1097280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Decomposable Model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91840" y="1335024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Configuration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10128" y="1536192"/>
            <a:ext cx="25237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3AED"/>
                </a:solidFill>
              </a:rPr>
              <a:t>· </a:t>
            </a:r>
            <a:r>
              <a:rPr lang="en-US" sz="800" dirty="0">
                <a:solidFill>
                  <a:srgbClr val="334155"/>
                </a:solidFill>
              </a:rPr>
              <a:t>seasonality_mode: additive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10128" y="1847088"/>
            <a:ext cx="25237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3AED"/>
                </a:solidFill>
              </a:rPr>
              <a:t>· </a:t>
            </a:r>
            <a:r>
              <a:rPr lang="en-US" sz="800" dirty="0">
                <a:solidFill>
                  <a:srgbClr val="334155"/>
                </a:solidFill>
              </a:rPr>
              <a:t>yearly_seasonality: True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10128" y="2157984"/>
            <a:ext cx="25237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3AED"/>
                </a:solidFill>
              </a:rPr>
              <a:t>· </a:t>
            </a:r>
            <a:r>
              <a:rPr lang="en-US" sz="800" dirty="0">
                <a:solidFill>
                  <a:srgbClr val="334155"/>
                </a:solidFill>
              </a:rPr>
              <a:t>changepoint_prior: 0.05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10128" y="2468880"/>
            <a:ext cx="25237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3AED"/>
                </a:solidFill>
              </a:rPr>
              <a:t>· </a:t>
            </a:r>
            <a:r>
              <a:rPr lang="en-US" sz="800" dirty="0">
                <a:solidFill>
                  <a:srgbClr val="334155"/>
                </a:solidFill>
              </a:rPr>
              <a:t>Custom holidays: Black Friday, Christmas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91840" y="2816352"/>
            <a:ext cx="2560320" cy="9144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91840" y="2852928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Strengths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10128" y="3063240"/>
            <a:ext cx="2523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+ Holiday support built-in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310128" y="3337560"/>
            <a:ext cx="2523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+ Decomposes trend + seasonality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10128" y="3611880"/>
            <a:ext cx="2523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+ Robust to missing data &amp; outliers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291840" y="3913632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✗ Limitations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310128" y="4114800"/>
            <a:ext cx="252374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– Less direct parameter control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310128" y="4370832"/>
            <a:ext cx="252374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– Requires separate install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126480" y="749808"/>
            <a:ext cx="274320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126480" y="749808"/>
            <a:ext cx="2743200" cy="36576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126480" y="749808"/>
            <a:ext cx="2743200" cy="329184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17920" y="768096"/>
            <a:ext cx="20116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Gradient Boosting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275320" y="822960"/>
            <a:ext cx="502920" cy="20116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206740" y="822960"/>
            <a:ext cx="621665" cy="2012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D9488"/>
                </a:solidFill>
              </a:rPr>
              <a:t>SELECTED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217920" y="1097280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★ Best Model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17920" y="1335024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</a:rPr>
              <a:t>Configuration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236208" y="1536192"/>
            <a:ext cx="25237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</a:rPr>
              <a:t>· </a:t>
            </a:r>
            <a:r>
              <a:rPr lang="en-US" sz="800" dirty="0">
                <a:solidFill>
                  <a:srgbClr val="334155"/>
                </a:solidFill>
              </a:rPr>
              <a:t>300 boosting stages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36208" y="1847088"/>
            <a:ext cx="25237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</a:rPr>
              <a:t>· </a:t>
            </a:r>
            <a:r>
              <a:rPr lang="en-US" sz="800" dirty="0">
                <a:solidFill>
                  <a:srgbClr val="334155"/>
                </a:solidFill>
              </a:rPr>
              <a:t>learning_rate=0.05/0.02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236208" y="2157984"/>
            <a:ext cx="25237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</a:rPr>
              <a:t>· </a:t>
            </a:r>
            <a:r>
              <a:rPr lang="en-US" sz="800" dirty="0">
                <a:solidFill>
                  <a:srgbClr val="334155"/>
                </a:solidFill>
              </a:rPr>
              <a:t>max_depth=4/3 (normal/volatile)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236208" y="2468880"/>
            <a:ext cx="25237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</a:rPr>
              <a:t>· </a:t>
            </a:r>
            <a:r>
              <a:rPr lang="en-US" sz="800" dirty="0">
                <a:solidFill>
                  <a:srgbClr val="334155"/>
                </a:solidFill>
              </a:rPr>
              <a:t>Stochastic: subsample=0.8/0.7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217920" y="2816352"/>
            <a:ext cx="2560320" cy="9144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217920" y="2852928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✓ Strengths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236208" y="3063240"/>
            <a:ext cx="2523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+ Lowest MAPE — best performer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236208" y="3337560"/>
            <a:ext cx="2523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+ Captures non-linear patterns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236208" y="3611880"/>
            <a:ext cx="2523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+ Two hyperparameter profiles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217920" y="3913632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✗ Limitations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236208" y="4114800"/>
            <a:ext cx="252374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– Needs lag feature engineering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236208" y="4370832"/>
            <a:ext cx="252374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– Overfitting risk without tuning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Model Evaluation &amp; Selection Results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</a:rPr>
              <a:t>MAPE (0–100) — Lower is Better  |  Time-Ordered Test Split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9080" y="722630"/>
            <a:ext cx="8595360" cy="108267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635508"/>
            <a:ext cx="8595360" cy="292608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635508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1" name="Text 9"/>
          <p:cNvSpPr/>
          <p:nvPr/>
        </p:nvSpPr>
        <p:spPr>
          <a:xfrm>
            <a:off x="2331720" y="635508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MAPE (0–100)</a:t>
            </a:r>
          </a:p>
        </p:txBody>
      </p:sp>
      <p:sp>
        <p:nvSpPr>
          <p:cNvPr id="12" name="Text 10"/>
          <p:cNvSpPr/>
          <p:nvPr/>
        </p:nvSpPr>
        <p:spPr>
          <a:xfrm>
            <a:off x="4297680" y="635508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First-week change vs Actual</a:t>
            </a:r>
          </a:p>
        </p:txBody>
      </p:sp>
      <p:sp>
        <p:nvSpPr>
          <p:cNvPr id="13" name="Text 11"/>
          <p:cNvSpPr/>
          <p:nvPr/>
        </p:nvSpPr>
        <p:spPr>
          <a:xfrm>
            <a:off x="6675120" y="635508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MAE (£)</a:t>
            </a:r>
          </a:p>
        </p:txBody>
      </p:sp>
      <p:sp>
        <p:nvSpPr>
          <p:cNvPr id="14" name="Text 12"/>
          <p:cNvSpPr/>
          <p:nvPr/>
        </p:nvSpPr>
        <p:spPr>
          <a:xfrm>
            <a:off x="8181340" y="635508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Selected?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946150"/>
            <a:ext cx="8595360" cy="214630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982980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SARIMA (1,1,1)(1,1,1,4)</a:t>
            </a:r>
          </a:p>
        </p:txBody>
      </p:sp>
      <p:sp>
        <p:nvSpPr>
          <p:cNvPr id="17" name="Text 15"/>
          <p:cNvSpPr/>
          <p:nvPr/>
        </p:nvSpPr>
        <p:spPr>
          <a:xfrm>
            <a:off x="2331720" y="982980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</a:rPr>
              <a:t>76.7%</a:t>
            </a:r>
          </a:p>
        </p:txBody>
      </p:sp>
      <p:sp>
        <p:nvSpPr>
          <p:cNvPr id="18" name="Text 16"/>
          <p:cNvSpPr/>
          <p:nvPr/>
        </p:nvSpPr>
        <p:spPr>
          <a:xfrm>
            <a:off x="4297680" y="982980"/>
            <a:ext cx="2286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High bias</a:t>
            </a:r>
          </a:p>
        </p:txBody>
      </p:sp>
      <p:sp>
        <p:nvSpPr>
          <p:cNvPr id="19" name="Text 17"/>
          <p:cNvSpPr/>
          <p:nvPr/>
        </p:nvSpPr>
        <p:spPr>
          <a:xfrm>
            <a:off x="6675120" y="98298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£196.2k</a:t>
            </a:r>
          </a:p>
        </p:txBody>
      </p:sp>
      <p:sp>
        <p:nvSpPr>
          <p:cNvPr id="20" name="Text 18"/>
          <p:cNvSpPr/>
          <p:nvPr/>
        </p:nvSpPr>
        <p:spPr>
          <a:xfrm>
            <a:off x="8229600" y="982980"/>
            <a:ext cx="548640" cy="20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21" name="Text 19"/>
          <p:cNvSpPr/>
          <p:nvPr/>
        </p:nvSpPr>
        <p:spPr>
          <a:xfrm>
            <a:off x="411480" y="1186307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Facebook Prophet</a:t>
            </a:r>
          </a:p>
        </p:txBody>
      </p:sp>
      <p:sp>
        <p:nvSpPr>
          <p:cNvPr id="22" name="Text 20"/>
          <p:cNvSpPr/>
          <p:nvPr/>
        </p:nvSpPr>
        <p:spPr>
          <a:xfrm>
            <a:off x="2331720" y="1186307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20.3%</a:t>
            </a:r>
          </a:p>
        </p:txBody>
      </p:sp>
      <p:sp>
        <p:nvSpPr>
          <p:cNvPr id="23" name="Text 21"/>
          <p:cNvSpPr/>
          <p:nvPr/>
        </p:nvSpPr>
        <p:spPr>
          <a:xfrm>
            <a:off x="4297680" y="1207262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Moderate</a:t>
            </a:r>
          </a:p>
        </p:txBody>
      </p:sp>
      <p:sp>
        <p:nvSpPr>
          <p:cNvPr id="24" name="Text 22"/>
          <p:cNvSpPr/>
          <p:nvPr/>
        </p:nvSpPr>
        <p:spPr>
          <a:xfrm>
            <a:off x="6675120" y="1160907"/>
            <a:ext cx="1371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£51.8k</a:t>
            </a:r>
          </a:p>
        </p:txBody>
      </p:sp>
      <p:sp>
        <p:nvSpPr>
          <p:cNvPr id="25" name="Text 23"/>
          <p:cNvSpPr/>
          <p:nvPr/>
        </p:nvSpPr>
        <p:spPr>
          <a:xfrm>
            <a:off x="8229600" y="1165860"/>
            <a:ext cx="548640" cy="2755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✗</a:t>
            </a:r>
          </a:p>
        </p:txBody>
      </p:sp>
      <p:sp>
        <p:nvSpPr>
          <p:cNvPr id="26" name="Shape 24"/>
          <p:cNvSpPr/>
          <p:nvPr/>
        </p:nvSpPr>
        <p:spPr>
          <a:xfrm>
            <a:off x="274320" y="1508125"/>
            <a:ext cx="8595360" cy="284480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1508125"/>
            <a:ext cx="8595360" cy="266065"/>
          </a:xfrm>
          <a:prstGeom prst="rect">
            <a:avLst/>
          </a:prstGeom>
          <a:solidFill>
            <a:srgbClr val="F0FDF4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1513459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Gradient Boosting</a:t>
            </a:r>
          </a:p>
        </p:txBody>
      </p:sp>
      <p:sp>
        <p:nvSpPr>
          <p:cNvPr id="29" name="Text 27"/>
          <p:cNvSpPr/>
          <p:nvPr/>
        </p:nvSpPr>
        <p:spPr>
          <a:xfrm>
            <a:off x="2388235" y="1554480"/>
            <a:ext cx="1828800" cy="20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</a:rPr>
              <a:t>17.1%</a:t>
            </a:r>
          </a:p>
        </p:txBody>
      </p:sp>
      <p:sp>
        <p:nvSpPr>
          <p:cNvPr id="30" name="Text 28"/>
          <p:cNvSpPr/>
          <p:nvPr/>
        </p:nvSpPr>
        <p:spPr>
          <a:xfrm>
            <a:off x="4297680" y="1538605"/>
            <a:ext cx="2286000" cy="2349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Low</a:t>
            </a:r>
          </a:p>
        </p:txBody>
      </p:sp>
      <p:sp>
        <p:nvSpPr>
          <p:cNvPr id="31" name="Text 29"/>
          <p:cNvSpPr/>
          <p:nvPr/>
        </p:nvSpPr>
        <p:spPr>
          <a:xfrm>
            <a:off x="6675120" y="1456690"/>
            <a:ext cx="1371600" cy="2425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£54.3k</a:t>
            </a:r>
          </a:p>
        </p:txBody>
      </p:sp>
      <p:sp>
        <p:nvSpPr>
          <p:cNvPr id="32" name="Text 30"/>
          <p:cNvSpPr/>
          <p:nvPr/>
        </p:nvSpPr>
        <p:spPr>
          <a:xfrm>
            <a:off x="8229600" y="1479550"/>
            <a:ext cx="548640" cy="259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★ YES</a:t>
            </a:r>
          </a:p>
        </p:txBody>
      </p:sp>
      <p:sp>
        <p:nvSpPr>
          <p:cNvPr id="34" name="Shape 31"/>
          <p:cNvSpPr/>
          <p:nvPr/>
        </p:nvSpPr>
        <p:spPr>
          <a:xfrm>
            <a:off x="4572000" y="1886585"/>
            <a:ext cx="4297680" cy="140017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572000" y="1886585"/>
            <a:ext cx="4297680" cy="186055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572000" y="1886585"/>
            <a:ext cx="4297680" cy="2000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MAPE BY TEST PERIOD — Gradient Boosting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681728" y="2033016"/>
            <a:ext cx="1463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Period 1 (wk 1-3)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217920" y="2078990"/>
            <a:ext cx="1816100" cy="221615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8046720" y="2078990"/>
            <a:ext cx="548640" cy="2076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</a:rPr>
              <a:t>14.2%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681728" y="2313940"/>
            <a:ext cx="1463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Period 2 (wk 4-6)</a:t>
            </a:r>
          </a:p>
        </p:txBody>
      </p:sp>
      <p:sp>
        <p:nvSpPr>
          <p:cNvPr id="41" name="Shape 38"/>
          <p:cNvSpPr/>
          <p:nvPr/>
        </p:nvSpPr>
        <p:spPr>
          <a:xfrm>
            <a:off x="6217920" y="2348865"/>
            <a:ext cx="2099945" cy="200025"/>
          </a:xfrm>
          <a:prstGeom prst="rect">
            <a:avLst/>
          </a:prstGeom>
          <a:solidFill>
            <a:srgbClr val="14B8A6"/>
          </a:solidFill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8318500" y="2348865"/>
            <a:ext cx="536575" cy="2209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</a:rPr>
              <a:t>17.8%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681728" y="2570099"/>
            <a:ext cx="1463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Period 3 (wk 7-9)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6217920" y="2600325"/>
            <a:ext cx="2286000" cy="202565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8442960" y="2543810"/>
            <a:ext cx="548640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19.5%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4681728" y="2824353"/>
            <a:ext cx="1463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Period 4 (wk 10-11)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217920" y="2861310"/>
            <a:ext cx="2108835" cy="18288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8321040" y="2825115"/>
            <a:ext cx="533400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17.1%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634230" y="3081020"/>
            <a:ext cx="4173220" cy="2012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Note: Box plot of % errors per period shows consistent spread — no period exhibits extreme outliers.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274320" y="4681728"/>
            <a:ext cx="8595360" cy="182880"/>
          </a:xfrm>
          <a:prstGeom prst="rect">
            <a:avLst/>
          </a:prstGeom>
          <a:solidFill>
            <a:srgbClr val="EFF6FF"/>
          </a:solidFill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441960" y="4937633"/>
            <a:ext cx="8412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3352"/>
                </a:solidFill>
              </a:rPr>
              <a:t>MAPE = (1/n) × Σ |Actual − Forecast| / Actual × 100  |  Target: MAPE &lt; 15% for operational deployment  |  Gradient Boosting achieves 17.1% — closest to target in Phase 2</a:t>
            </a:r>
            <a:endParaRPr lang="en-US" sz="750" dirty="0"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61185"/>
            <a:ext cx="4102735" cy="30232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386455"/>
            <a:ext cx="4306570" cy="1290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4279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ba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al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/>
          <p:nvPr/>
        </p:nvSpPr>
        <p:spPr>
          <a:xfrm>
            <a:off x="320040" y="73152"/>
            <a:ext cx="73152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</a:rPr>
              <a:t>Error Distribution — Box Plots by Test Period</a:t>
            </a:r>
          </a:p>
        </p:txBody>
      </p:sp>
      <p:sp>
        <p:nvSpPr>
          <p:cNvPr id="6" name="sub"/>
          <p:cNvSpPr/>
          <p:nvPr/>
        </p:nvSpPr>
        <p:spPr>
          <a:xfrm>
            <a:off x="274320" y="439830"/>
            <a:ext cx="8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0">
                <a:solidFill>
                  <a:srgbClr val="14B8A6"/>
                </a:solidFill>
                <a:latin typeface="Calibri"/>
              </a:rPr>
              <a:t>Gradient Boosting  |  Test Set Divided into 4 Equal Periods  |  % Error Distribution</a:t>
            </a:r>
          </a:p>
        </p:txBody>
      </p:sp>
      <p:sp>
        <p:nvSpPr>
          <p:cNvPr id="7" name="chartbg"/>
          <p:cNvSpPr/>
          <p:nvPr/>
        </p:nvSpPr>
        <p:spPr>
          <a:xfrm>
            <a:off x="274320" y="695960"/>
            <a:ext cx="6000115" cy="4454525"/>
          </a:xfrm>
          <a:prstGeom prst="rect">
            <a:avLst/>
          </a:prstGeom>
          <a:solidFill>
            <a:srgbClr val="FFFFFF"/>
          </a:solidFill>
          <a:ln w="180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chtitle"/>
          <p:cNvSpPr/>
          <p:nvPr/>
        </p:nvSpPr>
        <p:spPr>
          <a:xfrm>
            <a:off x="274320" y="665700"/>
            <a:ext cx="6000000" cy="280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% Error Distribution by Test Period — Gradient Boosting</a:t>
            </a:r>
          </a:p>
        </p:txBody>
      </p:sp>
      <p:sp>
        <p:nvSpPr>
          <p:cNvPr id="9" name="yaxis"/>
          <p:cNvSpPr/>
          <p:nvPr/>
        </p:nvSpPr>
        <p:spPr>
          <a:xfrm rot="-5400000">
            <a:off x="290000" y="1900000"/>
            <a:ext cx="1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0">
                <a:solidFill>
                  <a:srgbClr val="64748B"/>
                </a:solidFill>
                <a:latin typeface="Calibri"/>
              </a:rPr>
              <a:t>% Error</a:t>
            </a:r>
          </a:p>
        </p:txBody>
      </p:sp>
      <p:sp>
        <p:nvSpPr>
          <p:cNvPr id="10" name="g0"/>
          <p:cNvSpPr/>
          <p:nvPr/>
        </p:nvSpPr>
        <p:spPr>
          <a:xfrm>
            <a:off x="580000" y="3080000"/>
            <a:ext cx="5500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g0lbl"/>
          <p:cNvSpPr/>
          <p:nvPr/>
        </p:nvSpPr>
        <p:spPr>
          <a:xfrm>
            <a:off x="390000" y="3030000"/>
            <a:ext cx="200000" cy="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700">
                <a:solidFill>
                  <a:srgbClr val="64748B"/>
                </a:solidFill>
                <a:latin typeface="Calibri"/>
              </a:rPr>
              <a:t>0</a:t>
            </a:r>
          </a:p>
        </p:txBody>
      </p:sp>
      <p:sp>
        <p:nvSpPr>
          <p:cNvPr id="12" name="g20"/>
          <p:cNvSpPr/>
          <p:nvPr/>
        </p:nvSpPr>
        <p:spPr>
          <a:xfrm>
            <a:off x="580000" y="2280000"/>
            <a:ext cx="5500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g20lbl"/>
          <p:cNvSpPr/>
          <p:nvPr/>
        </p:nvSpPr>
        <p:spPr>
          <a:xfrm>
            <a:off x="390000" y="2230000"/>
            <a:ext cx="200000" cy="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700">
                <a:solidFill>
                  <a:srgbClr val="64748B"/>
                </a:solidFill>
                <a:latin typeface="Calibri"/>
              </a:rPr>
              <a:t>+20</a:t>
            </a:r>
          </a:p>
        </p:txBody>
      </p:sp>
      <p:sp>
        <p:nvSpPr>
          <p:cNvPr id="14" name="gn20"/>
          <p:cNvSpPr/>
          <p:nvPr/>
        </p:nvSpPr>
        <p:spPr>
          <a:xfrm>
            <a:off x="580000" y="3880000"/>
            <a:ext cx="5500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gn20lbl"/>
          <p:cNvSpPr/>
          <p:nvPr/>
        </p:nvSpPr>
        <p:spPr>
          <a:xfrm>
            <a:off x="390000" y="3830000"/>
            <a:ext cx="200000" cy="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700">
                <a:solidFill>
                  <a:srgbClr val="64748B"/>
                </a:solidFill>
                <a:latin typeface="Calibri"/>
              </a:rPr>
              <a:t>-20</a:t>
            </a:r>
          </a:p>
        </p:txBody>
      </p:sp>
      <p:sp>
        <p:nvSpPr>
          <p:cNvPr id="20" name="p1wt"/>
          <p:cNvSpPr/>
          <p:nvPr/>
        </p:nvSpPr>
        <p:spPr>
          <a:xfrm>
            <a:off x="1160000" y="1900000"/>
            <a:ext cx="9000" cy="38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p1box"/>
          <p:cNvSpPr/>
          <p:nvPr/>
        </p:nvSpPr>
        <p:spPr>
          <a:xfrm>
            <a:off x="1000000" y="2280000"/>
            <a:ext cx="320000" cy="560000"/>
          </a:xfrm>
          <a:prstGeom prst="rect">
            <a:avLst/>
          </a:prstGeom>
          <a:solidFill>
            <a:srgbClr val="0D9488">
              <a:alpha val="60000"/>
            </a:srgbClr>
          </a:solidFill>
          <a:ln w="18000">
            <a:solidFill>
              <a:srgbClr val="0D948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p1med"/>
          <p:cNvSpPr/>
          <p:nvPr/>
        </p:nvSpPr>
        <p:spPr>
          <a:xfrm>
            <a:off x="1000000" y="2500000"/>
            <a:ext cx="320000" cy="1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p1wb"/>
          <p:cNvSpPr/>
          <p:nvPr/>
        </p:nvSpPr>
        <p:spPr>
          <a:xfrm>
            <a:off x="1160000" y="2840000"/>
            <a:ext cx="9000" cy="28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p2wt"/>
          <p:cNvSpPr/>
          <p:nvPr/>
        </p:nvSpPr>
        <p:spPr>
          <a:xfrm>
            <a:off x="2480000" y="1760000"/>
            <a:ext cx="9000" cy="48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p2box"/>
          <p:cNvSpPr/>
          <p:nvPr/>
        </p:nvSpPr>
        <p:spPr>
          <a:xfrm>
            <a:off x="2320000" y="2240000"/>
            <a:ext cx="320000" cy="640000"/>
          </a:xfrm>
          <a:prstGeom prst="rect">
            <a:avLst/>
          </a:prstGeom>
          <a:solidFill>
            <a:srgbClr val="F59E0B">
              <a:alpha val="60000"/>
            </a:srgbClr>
          </a:solidFill>
          <a:ln w="18000">
            <a:solidFill>
              <a:srgbClr val="F59E0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p2med"/>
          <p:cNvSpPr/>
          <p:nvPr/>
        </p:nvSpPr>
        <p:spPr>
          <a:xfrm>
            <a:off x="2320000" y="2540000"/>
            <a:ext cx="320000" cy="1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p2wb"/>
          <p:cNvSpPr/>
          <p:nvPr/>
        </p:nvSpPr>
        <p:spPr>
          <a:xfrm>
            <a:off x="2480000" y="2880000"/>
            <a:ext cx="9000" cy="36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p3wt"/>
          <p:cNvSpPr/>
          <p:nvPr/>
        </p:nvSpPr>
        <p:spPr>
          <a:xfrm>
            <a:off x="3800000" y="1680000"/>
            <a:ext cx="9000" cy="58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p3box"/>
          <p:cNvSpPr/>
          <p:nvPr/>
        </p:nvSpPr>
        <p:spPr>
          <a:xfrm>
            <a:off x="3640000" y="2260000"/>
            <a:ext cx="320000" cy="720000"/>
          </a:xfrm>
          <a:prstGeom prst="rect">
            <a:avLst/>
          </a:prstGeom>
          <a:solidFill>
            <a:srgbClr val="3B82F6">
              <a:alpha val="60000"/>
            </a:srgbClr>
          </a:solidFill>
          <a:ln w="18000">
            <a:solidFill>
              <a:srgbClr val="3B82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p3med"/>
          <p:cNvSpPr/>
          <p:nvPr/>
        </p:nvSpPr>
        <p:spPr>
          <a:xfrm>
            <a:off x="3640000" y="2600000"/>
            <a:ext cx="320000" cy="1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p3wb"/>
          <p:cNvSpPr/>
          <p:nvPr/>
        </p:nvSpPr>
        <p:spPr>
          <a:xfrm>
            <a:off x="3800000" y="2980000"/>
            <a:ext cx="9000" cy="40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p4wt"/>
          <p:cNvSpPr/>
          <p:nvPr/>
        </p:nvSpPr>
        <p:spPr>
          <a:xfrm>
            <a:off x="5120000" y="1820000"/>
            <a:ext cx="9000" cy="48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p4box"/>
          <p:cNvSpPr/>
          <p:nvPr/>
        </p:nvSpPr>
        <p:spPr>
          <a:xfrm>
            <a:off x="4960000" y="2300000"/>
            <a:ext cx="320000" cy="600000"/>
          </a:xfrm>
          <a:prstGeom prst="rect">
            <a:avLst/>
          </a:prstGeom>
          <a:solidFill>
            <a:srgbClr val="EF4444">
              <a:alpha val="60000"/>
            </a:srgbClr>
          </a:solidFill>
          <a:ln w="18000">
            <a:solidFill>
              <a:srgbClr val="EF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p4med"/>
          <p:cNvSpPr/>
          <p:nvPr/>
        </p:nvSpPr>
        <p:spPr>
          <a:xfrm>
            <a:off x="4960000" y="2560000"/>
            <a:ext cx="320000" cy="1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p4wb"/>
          <p:cNvSpPr/>
          <p:nvPr/>
        </p:nvSpPr>
        <p:spPr>
          <a:xfrm>
            <a:off x="5120000" y="2900000"/>
            <a:ext cx="9000" cy="34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interp"/>
          <p:cNvSpPr/>
          <p:nvPr/>
        </p:nvSpPr>
        <p:spPr>
          <a:xfrm>
            <a:off x="6489700" y="779780"/>
            <a:ext cx="2379980" cy="4518025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txBody>
          <a:bodyPr wrap="square" lIns="182880" tIns="182880" rIns="182880" bIns="182880" anchor="t"/>
          <a:lstStyle/>
          <a:p>
            <a:pPr algn="l">
              <a:buNone/>
            </a:pPr>
            <a:r>
              <a:rPr lang="en-US" sz="1000" b="1">
                <a:solidFill>
                  <a:srgbClr val="14B8A6"/>
                </a:solidFill>
                <a:latin typeface="Calibri"/>
              </a:rPr>
              <a:t>Key Findings</a:t>
            </a:r>
          </a:p>
          <a:p>
            <a:pPr>
              <a:spcBef>
                <a:spcPts val="400"/>
              </a:spcBef>
              <a:buNone/>
            </a:pPr>
            <a:endParaRPr lang="en-US" sz="1000" b="1">
              <a:solidFill>
                <a:srgbClr val="14B8A6"/>
              </a:solidFill>
              <a:latin typeface="Calibri"/>
            </a:endParaRPr>
          </a:p>
          <a:p>
            <a:pPr algn="l">
              <a:buNone/>
            </a:pPr>
            <a:r>
              <a:rPr lang="en-US" sz="900" b="1">
                <a:solidFill>
                  <a:srgbClr val="0D9488"/>
                </a:solidFill>
                <a:latin typeface="Calibri"/>
              </a:rPr>
              <a:t>P1 — 14.2% MAPE</a:t>
            </a:r>
          </a:p>
          <a:p>
            <a:pPr algn="l">
              <a:buNone/>
            </a:pPr>
            <a:r>
              <a:rPr lang="en-US" sz="850" b="0">
                <a:solidFill>
                  <a:srgbClr val="CBD5E1"/>
                </a:solidFill>
                <a:latin typeface="Calibri"/>
              </a:rPr>
              <a:t>Tightest spread. Low-volatility initial test window; model most accurate here.</a:t>
            </a:r>
          </a:p>
          <a:p>
            <a:pPr>
              <a:spcBef>
                <a:spcPts val="300"/>
              </a:spcBef>
              <a:buNone/>
            </a:pPr>
            <a:endParaRPr lang="en-US" sz="850" b="0">
              <a:solidFill>
                <a:srgbClr val="CBD5E1"/>
              </a:solidFill>
              <a:latin typeface="Calibri"/>
            </a:endParaRPr>
          </a:p>
          <a:p>
            <a:pPr algn="l">
              <a:buNone/>
            </a:pPr>
            <a:r>
              <a:rPr lang="en-US" sz="900" b="1">
                <a:solidFill>
                  <a:srgbClr val="F59E0B"/>
                </a:solidFill>
                <a:latin typeface="Calibri"/>
              </a:rPr>
              <a:t>P2 — 17.8% MAPE</a:t>
            </a:r>
          </a:p>
          <a:p>
            <a:pPr algn="l">
              <a:buNone/>
            </a:pPr>
            <a:r>
              <a:rPr lang="en-US" sz="850" b="0">
                <a:solidFill>
                  <a:srgbClr val="CBD5E1"/>
                </a:solidFill>
                <a:latin typeface="Calibri"/>
              </a:rPr>
              <a:t>Wider IQR. Mid-test volatility as market adjusts from Q3 patterns.</a:t>
            </a:r>
          </a:p>
          <a:p>
            <a:pPr>
              <a:spcBef>
                <a:spcPts val="300"/>
              </a:spcBef>
              <a:buNone/>
            </a:pPr>
            <a:endParaRPr lang="en-US" sz="850" b="0">
              <a:solidFill>
                <a:srgbClr val="CBD5E1"/>
              </a:solidFill>
              <a:latin typeface="Calibri"/>
            </a:endParaRPr>
          </a:p>
          <a:p>
            <a:pPr algn="l">
              <a:buNone/>
            </a:pPr>
            <a:r>
              <a:rPr lang="en-US" sz="900" b="1">
                <a:solidFill>
                  <a:srgbClr val="3B82F6"/>
                </a:solidFill>
                <a:latin typeface="Calibri"/>
              </a:rPr>
              <a:t>P3 — 19.5% MAPE</a:t>
            </a:r>
          </a:p>
          <a:p>
            <a:pPr algn="l">
              <a:buNone/>
            </a:pPr>
            <a:r>
              <a:rPr lang="en-US" sz="850" b="0">
                <a:solidFill>
                  <a:srgbClr val="CBD5E1"/>
                </a:solidFill>
                <a:latin typeface="Calibri"/>
              </a:rPr>
              <a:t>Highest MAPE. Pre-holiday demand ramp-up creates harder-to-predict patterns.</a:t>
            </a:r>
          </a:p>
          <a:p>
            <a:pPr>
              <a:spcBef>
                <a:spcPts val="300"/>
              </a:spcBef>
              <a:buNone/>
            </a:pPr>
            <a:endParaRPr lang="en-US" sz="850" b="0">
              <a:solidFill>
                <a:srgbClr val="CBD5E1"/>
              </a:solidFill>
              <a:latin typeface="Calibri"/>
            </a:endParaRPr>
          </a:p>
          <a:p>
            <a:pPr algn="l">
              <a:buNone/>
            </a:pPr>
            <a:r>
              <a:rPr lang="en-US" sz="900" b="1">
                <a:solidFill>
                  <a:srgbClr val="EF4444"/>
                </a:solidFill>
                <a:latin typeface="Calibri"/>
              </a:rPr>
              <a:t>P4 — 17.1% MAPE</a:t>
            </a:r>
          </a:p>
          <a:p>
            <a:pPr algn="l">
              <a:buNone/>
            </a:pPr>
            <a:r>
              <a:rPr lang="en-US" sz="850" b="0">
                <a:solidFill>
                  <a:srgbClr val="CBD5E1"/>
                </a:solidFill>
                <a:latin typeface="Calibri"/>
              </a:rPr>
              <a:t>Recovers slightly. No extreme outliers — consistent spread confirms no period-specific breakdown.</a:t>
            </a:r>
          </a:p>
          <a:p>
            <a:pPr>
              <a:spcBef>
                <a:spcPts val="500"/>
              </a:spcBef>
              <a:buNone/>
            </a:pPr>
            <a:endParaRPr lang="en-US" sz="850" b="0">
              <a:solidFill>
                <a:srgbClr val="CBD5E1"/>
              </a:solidFill>
              <a:latin typeface="Calibri"/>
            </a:endParaRPr>
          </a:p>
          <a:p>
            <a:pPr algn="l">
              <a:buNone/>
            </a:pPr>
            <a:r>
              <a:rPr lang="en-US" sz="850" b="1">
                <a:solidFill>
                  <a:srgbClr val="14B8A6"/>
                </a:solidFill>
                <a:latin typeface="Calibri"/>
              </a:rPr>
              <a:t>Overall MAPE: 17.1%</a:t>
            </a:r>
          </a:p>
          <a:p>
            <a:pPr algn="l">
              <a:buNone/>
            </a:pPr>
            <a:r>
              <a:rPr lang="en-US" sz="850" b="0">
                <a:solidFill>
                  <a:srgbClr val="CBD5E1"/>
                </a:solidFill>
                <a:latin typeface="Calibri"/>
              </a:rPr>
              <a:t>Closest to 15% target. Consistent across periods — no catastrophic drift.</a:t>
            </a:r>
          </a:p>
        </p:txBody>
      </p:sp>
      <p:sp>
        <p:nvSpPr>
          <p:cNvPr id="70" name="footer"/>
          <p:cNvSpPr/>
          <p:nvPr/>
        </p:nvSpPr>
        <p:spPr>
          <a:xfrm>
            <a:off x="0" y="5189855"/>
            <a:ext cx="8868410" cy="23749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Sales Revenue Forecasting — Online Retail |  Deliverable 2</a:t>
            </a:r>
          </a:p>
        </p:txBody>
      </p:sp>
      <p:pic>
        <p:nvPicPr>
          <p:cNvPr id="16" name="Image 0" descr="/mnt/data/generated_imgs/cell2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70915"/>
            <a:ext cx="5931535" cy="41230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8890"/>
            <a:ext cx="9144000" cy="60325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520" y="0"/>
            <a:ext cx="3900805" cy="4940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Technical Architecture — Deliverable 2</a:t>
            </a:r>
          </a:p>
        </p:txBody>
      </p:sp>
      <p:sp>
        <p:nvSpPr>
          <p:cNvPr id="4" name="Text 2"/>
          <p:cNvSpPr/>
          <p:nvPr/>
        </p:nvSpPr>
        <p:spPr>
          <a:xfrm>
            <a:off x="3808095" y="0"/>
            <a:ext cx="5335905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</a:rPr>
              <a:t>Cluster-Based Forecasting Platform  |  FastAPI + Docker + PostgreSQL + LLM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Sales Revenue Forecasting — Online Retail |  Deliverable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" y="713105"/>
            <a:ext cx="4195445" cy="4160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349240" y="713232"/>
            <a:ext cx="35661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349240" y="713232"/>
            <a:ext cx="3566160" cy="27432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349240" y="713232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 COMPONENTS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40680" y="1024128"/>
            <a:ext cx="256032" cy="219456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40680" y="1024128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742432" y="1024128"/>
            <a:ext cx="3063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Browser UI: FastAPI static serve — Chat + Charts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440680" y="1289304"/>
            <a:ext cx="256032" cy="219456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40680" y="1289304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742432" y="1289304"/>
            <a:ext cx="3063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API Layer: FastAPI + SQLAlchemy + PostgreSQL 16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440680" y="1554480"/>
            <a:ext cx="256032" cy="219456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440680" y="1554480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742432" y="1554480"/>
            <a:ext cx="3063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Agent / Router: Heuristic (regex) OR Ollama LLM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440680" y="1819656"/>
            <a:ext cx="256032" cy="219456"/>
          </a:xfrm>
          <a:prstGeom prst="rect">
            <a:avLst/>
          </a:prstGeom>
          <a:solidFill>
            <a:srgbClr val="EF4444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440680" y="1819656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742432" y="1819656"/>
            <a:ext cx="3063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Forecast Engine: GBR / RF per cluster — scikit-learn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440680" y="2084832"/>
            <a:ext cx="256032" cy="219456"/>
          </a:xfrm>
          <a:prstGeom prst="rect">
            <a:avLst/>
          </a:prstGeom>
          <a:solidFill>
            <a:srgbClr val="1A3352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440680" y="2084832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742432" y="2084832"/>
            <a:ext cx="3063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Persistence: PostgreSQL + .joblib artifact store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440680" y="2350008"/>
            <a:ext cx="256032" cy="219456"/>
          </a:xfrm>
          <a:prstGeom prst="rect">
            <a:avLst/>
          </a:prstGeom>
          <a:solidFill>
            <a:srgbClr val="059669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440680" y="2350008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742432" y="2350008"/>
            <a:ext cx="3063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Offline Pipeline: DTW → Cluster → Train → Evaluate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349240" y="2798064"/>
            <a:ext cx="3566160" cy="914400"/>
          </a:xfrm>
          <a:prstGeom prst="rect">
            <a:avLst/>
          </a:prstGeom>
          <a:solidFill>
            <a:srgbClr val="F0FDF4"/>
          </a:solidFill>
          <a:ln w="9525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486400" y="2834640"/>
            <a:ext cx="3291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F46"/>
                </a:solidFill>
              </a:rPr>
              <a:t>🐳  Docker Compose Stack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486400" y="3090672"/>
            <a:ext cx="33375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api container (uvicorn)  ·  db container (postgres:16)  ·  Optional Ollama sidecar via host.docker.internal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5349240" y="3803904"/>
            <a:ext cx="35661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349240" y="3803904"/>
            <a:ext cx="3566160" cy="256032"/>
          </a:xfrm>
          <a:prstGeom prst="rect">
            <a:avLst/>
          </a:prstGeom>
          <a:solidFill>
            <a:srgbClr val="1A3352"/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349240" y="3803904"/>
            <a:ext cx="3566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KEY DESIGN DECISIONS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468112" y="4096512"/>
            <a:ext cx="33375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→  LLM routes only — no forecast math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468112" y="4279392"/>
            <a:ext cx="33375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→  Cluster-based models (not one-size-fits-all)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468112" y="4462272"/>
            <a:ext cx="33375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→  DTW clustering → GBR / RF per segment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468112" y="4645152"/>
            <a:ext cx="33375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→  MAPE validation for model selection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ba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al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/>
          <p:nvPr/>
        </p:nvSpPr>
        <p:spPr>
          <a:xfrm>
            <a:off x="215265" y="16002"/>
            <a:ext cx="73152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</a:rPr>
              <a:t>DTW Clustering</a:t>
            </a:r>
          </a:p>
        </p:txBody>
      </p:sp>
      <p:sp>
        <p:nvSpPr>
          <p:cNvPr id="6" name="sub"/>
          <p:cNvSpPr/>
          <p:nvPr/>
        </p:nvSpPr>
        <p:spPr>
          <a:xfrm>
            <a:off x="215265" y="401730"/>
            <a:ext cx="8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0">
                <a:solidFill>
                  <a:srgbClr val="14B8A6"/>
                </a:solidFill>
                <a:latin typeface="Calibri"/>
              </a:rPr>
              <a:t>Dynamic Time Warping Distance  |  Agglomerative Clustering  |  Cluster Profiles</a:t>
            </a:r>
          </a:p>
        </p:txBody>
      </p:sp>
      <p:sp>
        <p:nvSpPr>
          <p:cNvPr id="7" name="leftpanel"/>
          <p:cNvSpPr/>
          <p:nvPr/>
        </p:nvSpPr>
        <p:spPr>
          <a:xfrm>
            <a:off x="274320" y="779780"/>
            <a:ext cx="4100195" cy="415417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lhdr"/>
          <p:cNvSpPr/>
          <p:nvPr/>
        </p:nvSpPr>
        <p:spPr>
          <a:xfrm>
            <a:off x="274320" y="780000"/>
            <a:ext cx="4100000" cy="28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4.3 DTW CLUSTERING PROCESS</a:t>
            </a:r>
          </a:p>
        </p:txBody>
      </p:sp>
      <p:sp>
        <p:nvSpPr>
          <p:cNvPr id="9" name="lcontent"/>
          <p:cNvSpPr/>
          <p:nvPr/>
        </p:nvSpPr>
        <p:spPr>
          <a:xfrm>
            <a:off x="320040" y="1100000"/>
            <a:ext cx="400000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marL="0" indent="0" algn="l">
              <a:buNone/>
            </a:pPr>
            <a:r>
              <a:rPr lang="en-US" sz="1000" b="1">
                <a:solidFill>
                  <a:srgbClr val="14B8A6"/>
                </a:solidFill>
                <a:latin typeface="Calibri"/>
              </a:rPr>
              <a:t>Step 1 — Active History Filter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900" b="0">
                <a:solidFill>
                  <a:srgbClr val="CBD5E1"/>
                </a:solidFill>
                <a:latin typeface="Calibri"/>
              </a:rPr>
              <a:t>Only entities with sufficient active history are included in the DTW training sample — sparse series are excluded to ensure reliable distance computation.</a:t>
            </a:r>
          </a:p>
          <a:p>
            <a:pPr>
              <a:spcBef>
                <a:spcPts val="600"/>
              </a:spcBef>
              <a:buNone/>
            </a:pPr>
            <a:endParaRPr lang="en-US" sz="900" b="0">
              <a:solidFill>
                <a:srgbClr val="CBD5E1"/>
              </a:solidFill>
              <a:latin typeface="Calibri"/>
            </a:endParaRPr>
          </a:p>
          <a:p>
            <a:pPr marL="0" indent="0" algn="l">
              <a:buNone/>
            </a:pPr>
            <a:r>
              <a:rPr lang="en-US" sz="1000" b="1">
                <a:solidFill>
                  <a:srgbClr val="14B8A6"/>
                </a:solidFill>
                <a:latin typeface="Calibri"/>
              </a:rPr>
              <a:t>Step 2 — Stratified Sampling Cap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900" b="0">
                <a:solidFill>
                  <a:srgbClr val="CBD5E1"/>
                </a:solidFill>
                <a:latin typeface="Calibri"/>
              </a:rPr>
              <a:t>If the candidate pool is too large, a stratified sampling routine caps the DTW workload, preserving representativeness without O(n²) cost.</a:t>
            </a:r>
          </a:p>
          <a:p>
            <a:pPr>
              <a:spcBef>
                <a:spcPts val="600"/>
              </a:spcBef>
              <a:buNone/>
            </a:pPr>
            <a:endParaRPr lang="en-US" sz="900" b="0">
              <a:solidFill>
                <a:srgbClr val="CBD5E1"/>
              </a:solidFill>
              <a:latin typeface="Calibri"/>
            </a:endParaRPr>
          </a:p>
          <a:p>
            <a:pPr marL="0" indent="0" algn="l">
              <a:buNone/>
            </a:pPr>
            <a:r>
              <a:rPr lang="en-US" sz="1000" b="1">
                <a:solidFill>
                  <a:srgbClr val="14B8A6"/>
                </a:solidFill>
                <a:latin typeface="Calibri"/>
              </a:rPr>
              <a:t>Step 3 — Heuristic Cluster Count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900" b="0">
                <a:solidFill>
                  <a:srgbClr val="CBD5E1"/>
                </a:solidFill>
                <a:latin typeface="Calibri"/>
              </a:rPr>
              <a:t>Cluster count is adjusted via entity-count heuristics rather than accepted blindly — prevents degenerate single-member clusters.</a:t>
            </a:r>
          </a:p>
          <a:p>
            <a:pPr>
              <a:spcBef>
                <a:spcPts val="600"/>
              </a:spcBef>
              <a:buNone/>
            </a:pPr>
            <a:endParaRPr lang="en-US" sz="900" b="0">
              <a:solidFill>
                <a:srgbClr val="CBD5E1"/>
              </a:solidFill>
              <a:latin typeface="Calibri"/>
            </a:endParaRPr>
          </a:p>
          <a:p>
            <a:pPr marL="0" indent="0" algn="l">
              <a:buNone/>
            </a:pPr>
            <a:r>
              <a:rPr lang="en-US" sz="1000" b="1">
                <a:solidFill>
                  <a:srgbClr val="14B8A6"/>
                </a:solidFill>
                <a:latin typeface="Calibri"/>
              </a:rPr>
              <a:t>Step 4 — Balanced Reassignment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900" b="0">
                <a:solidFill>
                  <a:srgbClr val="CBD5E1"/>
                </a:solidFill>
                <a:latin typeface="Calibri"/>
              </a:rPr>
              <a:t>After prototype creation, a balanced reassignment step limits cluster over-concentration — ensuring each segment trains a robust GBR model.</a:t>
            </a:r>
          </a:p>
        </p:txBody>
      </p:sp>
      <p:sp>
        <p:nvSpPr>
          <p:cNvPr id="10" name="rightpanel"/>
          <p:cNvSpPr/>
          <p:nvPr/>
        </p:nvSpPr>
        <p:spPr>
          <a:xfrm>
            <a:off x="4559935" y="779780"/>
            <a:ext cx="4309745" cy="4145915"/>
          </a:xfrm>
          <a:prstGeom prst="rect">
            <a:avLst/>
          </a:prstGeom>
          <a:solidFill>
            <a:srgbClr val="FFFFFF"/>
          </a:solidFill>
          <a:ln w="180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rhdr"/>
          <p:cNvSpPr/>
          <p:nvPr/>
        </p:nvSpPr>
        <p:spPr>
          <a:xfrm>
            <a:off x="4560000" y="780000"/>
            <a:ext cx="4310000" cy="280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4.4 CLUSTER PROFILES</a:t>
            </a:r>
          </a:p>
        </p:txBody>
      </p:sp>
      <p:sp>
        <p:nvSpPr>
          <p:cNvPr id="12" name="c1"/>
          <p:cNvSpPr/>
          <p:nvPr/>
        </p:nvSpPr>
        <p:spPr>
          <a:xfrm>
            <a:off x="4650000" y="1110000"/>
            <a:ext cx="4120000" cy="490000"/>
          </a:xfrm>
          <a:prstGeom prst="rect">
            <a:avLst/>
          </a:prstGeom>
          <a:solidFill>
            <a:srgbClr val="F0FDF4"/>
          </a:solidFill>
          <a:ln w="18000">
            <a:solidFill>
              <a:srgbClr val="0D9488"/>
            </a:solidFill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900" b="1">
                <a:solidFill>
                  <a:srgbClr val="0D9488"/>
                </a:solidFill>
                <a:latin typeface="Calibri"/>
              </a:rPr>
              <a:t>steady-growth-products</a:t>
            </a:r>
          </a:p>
          <a:p>
            <a:pPr algn="l">
              <a:buNone/>
            </a:pPr>
            <a:r>
              <a:rPr lang="en-US" sz="850" b="0">
                <a:solidFill>
                  <a:srgbClr val="334155"/>
                </a:solidFill>
                <a:latin typeface="Calibri"/>
              </a:rPr>
              <a:t>Low volatility, positive trend slope. Stable weekly revenue growth; ideal for standard lag-based GBR model.</a:t>
            </a:r>
          </a:p>
        </p:txBody>
      </p:sp>
      <p:sp>
        <p:nvSpPr>
          <p:cNvPr id="13" name="c2"/>
          <p:cNvSpPr/>
          <p:nvPr/>
        </p:nvSpPr>
        <p:spPr>
          <a:xfrm>
            <a:off x="4650000" y="1650000"/>
            <a:ext cx="4120000" cy="490000"/>
          </a:xfrm>
          <a:prstGeom prst="rect">
            <a:avLst/>
          </a:prstGeom>
          <a:solidFill>
            <a:srgbClr val="FFF7ED"/>
          </a:solidFill>
          <a:ln w="18000">
            <a:solidFill>
              <a:srgbClr val="EF4444"/>
            </a:solidFill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900" b="1">
                <a:solidFill>
                  <a:srgbClr val="EF4444"/>
                </a:solidFill>
                <a:latin typeface="Calibri"/>
              </a:rPr>
              <a:t>high-volatility-declining-customers</a:t>
            </a:r>
          </a:p>
          <a:p>
            <a:pPr algn="l">
              <a:buNone/>
            </a:pPr>
            <a:r>
              <a:rPr lang="en-US" sz="850" b="0">
                <a:solidFill>
                  <a:srgbClr val="334155"/>
                </a:solidFill>
                <a:latin typeface="Calibri"/>
              </a:rPr>
              <a:t>High volatility, negative trend. Requires conservative hyperparameters (lower LR, higher min_samples_leaf).</a:t>
            </a:r>
          </a:p>
        </p:txBody>
      </p:sp>
      <p:sp>
        <p:nvSpPr>
          <p:cNvPr id="14" name="c3"/>
          <p:cNvSpPr/>
          <p:nvPr/>
        </p:nvSpPr>
        <p:spPr>
          <a:xfrm>
            <a:off x="4650000" y="2190000"/>
            <a:ext cx="4120000" cy="490000"/>
          </a:xfrm>
          <a:prstGeom prst="rect">
            <a:avLst/>
          </a:prstGeom>
          <a:solidFill>
            <a:srgbClr val="EFF6FF"/>
          </a:solidFill>
          <a:ln w="18000">
            <a:solidFill>
              <a:srgbClr val="3B82F6"/>
            </a:solidFill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900" b="1">
                <a:solidFill>
                  <a:srgbClr val="3B82F6"/>
                </a:solidFill>
                <a:latin typeface="Calibri"/>
              </a:rPr>
              <a:t>seasonal-spike-products</a:t>
            </a:r>
          </a:p>
          <a:p>
            <a:pPr algn="l">
              <a:buNone/>
            </a:pPr>
            <a:r>
              <a:rPr lang="en-US" sz="850" b="0">
                <a:solidFill>
                  <a:srgbClr val="334155"/>
                </a:solidFill>
                <a:latin typeface="Calibri"/>
              </a:rPr>
              <a:t>Strong holiday spikes (Nov-Dec +50-65%). Holiday dummy and IsWeekend features are highest-weight predictors.</a:t>
            </a:r>
          </a:p>
        </p:txBody>
      </p:sp>
      <p:sp>
        <p:nvSpPr>
          <p:cNvPr id="15" name="c4"/>
          <p:cNvSpPr/>
          <p:nvPr/>
        </p:nvSpPr>
        <p:spPr>
          <a:xfrm>
            <a:off x="4650000" y="2730000"/>
            <a:ext cx="4120000" cy="490000"/>
          </a:xfrm>
          <a:prstGeom prst="rect">
            <a:avLst/>
          </a:prstGeom>
          <a:solidFill>
            <a:srgbClr val="F8FAFC"/>
          </a:solidFill>
          <a:ln w="18000">
            <a:solidFill>
              <a:srgbClr val="64748B"/>
            </a:solidFill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900" b="1">
                <a:solidFill>
                  <a:srgbClr val="64748B"/>
                </a:solidFill>
                <a:latin typeface="Calibri"/>
              </a:rPr>
              <a:t>steady-flat-products</a:t>
            </a:r>
          </a:p>
          <a:p>
            <a:pPr algn="l">
              <a:buNone/>
            </a:pPr>
            <a:r>
              <a:rPr lang="en-US" sz="850" b="0">
                <a:solidFill>
                  <a:srgbClr val="334155"/>
                </a:solidFill>
                <a:latin typeface="Calibri"/>
              </a:rPr>
              <a:t>Low volatility, near-zero trend slope. Prototype series stored for future cluster reassignment of new entities.</a:t>
            </a:r>
          </a:p>
        </p:txBody>
      </p:sp>
      <p:sp>
        <p:nvSpPr>
          <p:cNvPr id="16" name="meta"/>
          <p:cNvSpPr/>
          <p:nvPr/>
        </p:nvSpPr>
        <p:spPr>
          <a:xfrm>
            <a:off x="4650000" y="3280000"/>
            <a:ext cx="4120000" cy="600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txBody>
          <a:bodyPr wrap="square" lIns="91440" tIns="91440" rIns="91440" bIns="91440" anchor="t"/>
          <a:lstStyle/>
          <a:p>
            <a:pPr algn="l">
              <a:buNone/>
            </a:pPr>
            <a:r>
              <a:rPr lang="en-US" sz="900" b="1">
                <a:solidFill>
                  <a:srgbClr val="14B8A6"/>
                </a:solidFill>
                <a:latin typeface="Calibri"/>
              </a:rPr>
              <a:t>Profile Metadata Stored Per Cluster</a:t>
            </a:r>
          </a:p>
          <a:p>
            <a:pPr algn="l">
              <a:buNone/>
            </a:pPr>
            <a:r>
              <a:rPr lang="en-US" sz="850" b="0">
                <a:solidFill>
                  <a:srgbClr val="CBD5E1"/>
                </a:solidFill>
                <a:latin typeface="Calibri"/>
              </a:rPr>
              <a:t>Label  |  Description  |  Prototype Series  |  Member Count  |  Trend Slope  |  Volatility Score</a:t>
            </a:r>
          </a:p>
        </p:txBody>
      </p:sp>
      <p:sp>
        <p:nvSpPr>
          <p:cNvPr id="17" name="footer"/>
          <p:cNvSpPr/>
          <p:nvPr/>
        </p:nvSpPr>
        <p:spPr>
          <a:xfrm>
            <a:off x="0" y="4933950"/>
            <a:ext cx="9126855" cy="221615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Sales Revenue Forecasting — Online Retail |  Deliverable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207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ba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al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/>
          <p:nvPr/>
        </p:nvSpPr>
        <p:spPr>
          <a:xfrm>
            <a:off x="320040" y="73152"/>
            <a:ext cx="73152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</a:rPr>
              <a:t>iTransformer — Implementation in Deliverable 2</a:t>
            </a:r>
          </a:p>
        </p:txBody>
      </p:sp>
      <p:sp>
        <p:nvSpPr>
          <p:cNvPr id="6" name="sub"/>
          <p:cNvSpPr/>
          <p:nvPr/>
        </p:nvSpPr>
        <p:spPr>
          <a:xfrm>
            <a:off x="274320" y="439830"/>
            <a:ext cx="8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0">
                <a:solidFill>
                  <a:srgbClr val="14B8A6"/>
                </a:solidFill>
                <a:latin typeface="Calibri"/>
              </a:rPr>
              <a:t>Inverted Transformer Architecture  |  Parts 1, 2 &amp; 3 Implementation</a:t>
            </a:r>
          </a:p>
        </p:txBody>
      </p:sp>
      <p:sp>
        <p:nvSpPr>
          <p:cNvPr id="7" name="whatbox"/>
          <p:cNvSpPr/>
          <p:nvPr/>
        </p:nvSpPr>
        <p:spPr>
          <a:xfrm>
            <a:off x="274320" y="780000"/>
            <a:ext cx="8595360" cy="600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txBody>
          <a:bodyPr wrap="square" lIns="182880" tIns="91440" rIns="182880" bIns="91440" anchor="t"/>
          <a:lstStyle/>
          <a:p>
            <a:pPr algn="l">
              <a:buNone/>
            </a:pPr>
            <a:r>
              <a:rPr lang="en-US" sz="1000" b="1">
                <a:solidFill>
                  <a:srgbClr val="14B8A6"/>
                </a:solidFill>
                <a:latin typeface="Calibri"/>
              </a:rPr>
              <a:t>What is iTransformer?</a:t>
            </a:r>
          </a:p>
          <a:p>
            <a:pPr algn="l">
              <a:buNone/>
            </a:pPr>
            <a:r>
              <a:rPr lang="en-US" sz="900" b="0">
                <a:solidFill>
                  <a:srgbClr val="CBD5E1"/>
                </a:solidFill>
                <a:latin typeface="Calibri"/>
              </a:rPr>
              <a:t>iTransformer (Liu et al., 2024) inverts the standard Transformer by applying attention across the variate (feature) dimension rather than the time dimension. Each time-series token represents an entire series — enabling the model to capture cross-variate correlations that are critical for multivariate retail forecasting.</a:t>
            </a:r>
          </a:p>
        </p:txBody>
      </p:sp>
      <p:sp>
        <p:nvSpPr>
          <p:cNvPr id="8" name="p1hdr"/>
          <p:cNvSpPr/>
          <p:nvPr/>
        </p:nvSpPr>
        <p:spPr>
          <a:xfrm>
            <a:off x="274320" y="1450000"/>
            <a:ext cx="2700000" cy="28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PART 1 — Data &amp; Pipeline</a:t>
            </a:r>
          </a:p>
        </p:txBody>
      </p:sp>
      <p:sp>
        <p:nvSpPr>
          <p:cNvPr id="9" name="p1body"/>
          <p:cNvSpPr/>
          <p:nvPr/>
        </p:nvSpPr>
        <p:spPr>
          <a:xfrm>
            <a:off x="274320" y="1730000"/>
            <a:ext cx="2700000" cy="3200000"/>
          </a:xfrm>
          <a:prstGeom prst="rect">
            <a:avLst/>
          </a:prstGeom>
          <a:solidFill>
            <a:srgbClr val="FFFFFF"/>
          </a:solidFill>
          <a:ln w="18000">
            <a:solidFill>
              <a:srgbClr val="0D9488"/>
            </a:solidFill>
          </a:ln>
        </p:spPr>
        <p:txBody>
          <a:bodyPr wrap="square" lIns="91440" tIns="91440" rIns="91440" bIns="91440" anchor="t"/>
          <a:lstStyle/>
          <a:p>
            <a:pPr algn="l">
              <a:buNone/>
            </a:pPr>
            <a:r>
              <a:rPr lang="en-US" sz="900" b="1">
                <a:solidFill>
                  <a:srgbClr val="0F1C2E"/>
                </a:solidFill>
                <a:latin typeface="Calibri"/>
              </a:rPr>
              <a:t>Data Loading &amp; Diagnostics</a:t>
            </a:r>
          </a:p>
          <a:p>
            <a:pPr algn="l">
              <a:buNone/>
            </a:pPr>
            <a:r>
              <a:rPr lang="en-US" sz="850" b="0">
                <a:solidFill>
                  <a:srgbClr val="475569"/>
                </a:solidFill>
                <a:latin typeface="Calibri"/>
              </a:rPr>
              <a:t>Online Retail II loaded from two Excel sheets (2009-10 and 2010-11), merged and diagnosed for duplicates, missing values, and data-type integrity.</a:t>
            </a:r>
          </a:p>
          <a:p>
            <a:pPr>
              <a:spcBef>
                <a:spcPts val="400"/>
              </a:spcBef>
              <a:buNone/>
            </a:pPr>
            <a:endParaRPr lang="en-US" sz="850" b="0">
              <a:solidFill>
                <a:srgbClr val="475569"/>
              </a:solidFill>
              <a:latin typeface="Calibri"/>
            </a:endParaRPr>
          </a:p>
          <a:p>
            <a:pPr algn="l">
              <a:buNone/>
            </a:pPr>
            <a:r>
              <a:rPr lang="en-US" sz="900" b="1">
                <a:solidFill>
                  <a:srgbClr val="0F1C2E"/>
                </a:solidFill>
                <a:latin typeface="Calibri"/>
              </a:rPr>
              <a:t>Cleaning Pipeline</a:t>
            </a:r>
          </a:p>
          <a:p>
            <a:pPr algn="l">
              <a:buNone/>
            </a:pPr>
            <a:r>
              <a:rPr lang="en-US" sz="850" b="0">
                <a:solidFill>
                  <a:srgbClr val="475569"/>
                </a:solidFill>
                <a:latin typeface="Calibri"/>
              </a:rPr>
              <a:t>Removed cancellations (prefix C), negative/zero quantities and prices, duplicates. 94.4% record retention. Parsed InvoiceDate and extracted Year, Month, Week features.</a:t>
            </a:r>
          </a:p>
          <a:p>
            <a:pPr>
              <a:spcBef>
                <a:spcPts val="400"/>
              </a:spcBef>
              <a:buNone/>
            </a:pPr>
            <a:endParaRPr lang="en-US" sz="850" b="0">
              <a:solidFill>
                <a:srgbClr val="475569"/>
              </a:solidFill>
              <a:latin typeface="Calibri"/>
            </a:endParaRPr>
          </a:p>
          <a:p>
            <a:pPr algn="l">
              <a:buNone/>
            </a:pPr>
            <a:r>
              <a:rPr lang="en-US" sz="900" b="1">
                <a:solidFill>
                  <a:srgbClr val="0F1C2E"/>
                </a:solidFill>
                <a:latin typeface="Calibri"/>
              </a:rPr>
              <a:t>Weekly Aggregation</a:t>
            </a:r>
          </a:p>
          <a:p>
            <a:pPr algn="l">
              <a:buNone/>
            </a:pPr>
            <a:r>
              <a:rPr lang="en-US" sz="850" b="0">
                <a:solidFill>
                  <a:srgbClr val="475569"/>
                </a:solidFill>
                <a:latin typeface="Calibri"/>
              </a:rPr>
              <a:t>Revenue = Quantity x Price aggregated per ISO week (Monday-Sunday). 105-week series from Dec 2009 to Dec 2011.</a:t>
            </a:r>
          </a:p>
        </p:txBody>
      </p:sp>
      <p:sp>
        <p:nvSpPr>
          <p:cNvPr id="10" name="p2hdr"/>
          <p:cNvSpPr/>
          <p:nvPr/>
        </p:nvSpPr>
        <p:spPr>
          <a:xfrm>
            <a:off x="3140000" y="1450000"/>
            <a:ext cx="2700000" cy="28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PART 2 — Feature Engineering</a:t>
            </a:r>
          </a:p>
        </p:txBody>
      </p:sp>
      <p:sp>
        <p:nvSpPr>
          <p:cNvPr id="11" name="p2body"/>
          <p:cNvSpPr/>
          <p:nvPr/>
        </p:nvSpPr>
        <p:spPr>
          <a:xfrm>
            <a:off x="3140000" y="1730000"/>
            <a:ext cx="2700000" cy="3200000"/>
          </a:xfrm>
          <a:prstGeom prst="rect">
            <a:avLst/>
          </a:prstGeom>
          <a:solidFill>
            <a:srgbClr val="FFFFFF"/>
          </a:solidFill>
          <a:ln w="18000">
            <a:solidFill>
              <a:srgbClr val="3B82F6"/>
            </a:solidFill>
          </a:ln>
        </p:spPr>
        <p:txBody>
          <a:bodyPr wrap="square" lIns="91440" tIns="91440" rIns="91440" bIns="91440" anchor="t"/>
          <a:lstStyle/>
          <a:p>
            <a:pPr algn="l">
              <a:buNone/>
            </a:pPr>
            <a:r>
              <a:rPr lang="en-US" sz="900" b="1">
                <a:solidFill>
                  <a:srgbClr val="0F1C2E"/>
                </a:solidFill>
                <a:latin typeface="Calibri"/>
              </a:rPr>
              <a:t>26 Predictive Features</a:t>
            </a:r>
          </a:p>
          <a:p>
            <a:pPr algn="l">
              <a:buNone/>
            </a:pPr>
            <a:r>
              <a:rPr lang="en-US" sz="850" b="0">
                <a:solidFill>
                  <a:srgbClr val="475569"/>
                </a:solidFill>
                <a:latin typeface="Calibri"/>
              </a:rPr>
              <a:t>9 direct (Year, Month, WeekNum, Quarter, AvgPrice, NumInvoices, NumProducts, NumCustomers, TotalQuantity) plus 17 engineered features.</a:t>
            </a:r>
          </a:p>
          <a:p>
            <a:pPr>
              <a:spcBef>
                <a:spcPts val="400"/>
              </a:spcBef>
              <a:buNone/>
            </a:pPr>
            <a:endParaRPr lang="en-US" sz="850" b="0">
              <a:solidFill>
                <a:srgbClr val="475569"/>
              </a:solidFill>
              <a:latin typeface="Calibri"/>
            </a:endParaRPr>
          </a:p>
          <a:p>
            <a:pPr algn="l">
              <a:buNone/>
            </a:pPr>
            <a:r>
              <a:rPr lang="en-US" sz="900" b="1">
                <a:solidFill>
                  <a:srgbClr val="0F1C2E"/>
                </a:solidFill>
                <a:latin typeface="Calibri"/>
              </a:rPr>
              <a:t>Lag Features (Rev_Lag1-12)</a:t>
            </a:r>
          </a:p>
          <a:p>
            <a:pPr algn="l">
              <a:buNone/>
            </a:pPr>
            <a:r>
              <a:rPr lang="en-US" sz="850" b="0">
                <a:solidFill>
                  <a:srgbClr val="475569"/>
                </a:solidFill>
                <a:latin typeface="Calibri"/>
              </a:rPr>
              <a:t>Autoregressive signal across 1-12 prior weeks. Rev_Lag52 (YoY) added for entities with 52+ week history.</a:t>
            </a:r>
          </a:p>
          <a:p>
            <a:pPr>
              <a:spcBef>
                <a:spcPts val="400"/>
              </a:spcBef>
              <a:buNone/>
            </a:pPr>
            <a:endParaRPr lang="en-US" sz="850" b="0">
              <a:solidFill>
                <a:srgbClr val="475569"/>
              </a:solidFill>
              <a:latin typeface="Calibri"/>
            </a:endParaRPr>
          </a:p>
          <a:p>
            <a:pPr algn="l">
              <a:buNone/>
            </a:pPr>
            <a:r>
              <a:rPr lang="en-US" sz="900" b="1">
                <a:solidFill>
                  <a:srgbClr val="0F1C2E"/>
                </a:solidFill>
                <a:latin typeface="Calibri"/>
              </a:rPr>
              <a:t>Rolling Stats &amp; Holiday Flags</a:t>
            </a:r>
          </a:p>
          <a:p>
            <a:pPr algn="l">
              <a:buNone/>
            </a:pPr>
            <a:r>
              <a:rPr lang="en-US" sz="850" b="0">
                <a:solidFill>
                  <a:srgbClr val="475569"/>
                </a:solidFill>
                <a:latin typeface="Calibri"/>
              </a:rPr>
              <a:t>4-week rolling mean/std, IsHolidaySeason (Nov-Dec), IsWeekend, week-of-month cyclical encodings (sin/cos).</a:t>
            </a:r>
          </a:p>
          <a:p>
            <a:pPr>
              <a:spcBef>
                <a:spcPts val="400"/>
              </a:spcBef>
              <a:buNone/>
            </a:pPr>
            <a:endParaRPr lang="en-US" sz="850" b="0">
              <a:solidFill>
                <a:srgbClr val="475569"/>
              </a:solidFill>
              <a:latin typeface="Calibri"/>
            </a:endParaRPr>
          </a:p>
          <a:p>
            <a:pPr algn="l">
              <a:buNone/>
            </a:pPr>
            <a:r>
              <a:rPr lang="en-US" sz="900" b="1">
                <a:solidFill>
                  <a:srgbClr val="0F1C2E"/>
                </a:solidFill>
                <a:latin typeface="Calibri"/>
              </a:rPr>
              <a:t>Stationarity Check</a:t>
            </a:r>
          </a:p>
          <a:p>
            <a:pPr algn="l">
              <a:buNone/>
            </a:pPr>
            <a:r>
              <a:rPr lang="en-US" sz="850" b="0">
                <a:solidFill>
                  <a:srgbClr val="475569"/>
                </a:solidFill>
                <a:latin typeface="Calibri"/>
              </a:rPr>
              <a:t>ADF test applied. Series stationary at d=1; ACF/PACF used to inform SARIMA (1,1,1)(1,1,1,4) params.</a:t>
            </a:r>
          </a:p>
        </p:txBody>
      </p:sp>
      <p:sp>
        <p:nvSpPr>
          <p:cNvPr id="12" name="p3hdr"/>
          <p:cNvSpPr/>
          <p:nvPr/>
        </p:nvSpPr>
        <p:spPr>
          <a:xfrm>
            <a:off x="6010000" y="1450000"/>
            <a:ext cx="2860000" cy="28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PART 3 — Modelling</a:t>
            </a:r>
          </a:p>
        </p:txBody>
      </p:sp>
      <p:sp>
        <p:nvSpPr>
          <p:cNvPr id="13" name="p3body"/>
          <p:cNvSpPr/>
          <p:nvPr/>
        </p:nvSpPr>
        <p:spPr>
          <a:xfrm>
            <a:off x="6010000" y="1730000"/>
            <a:ext cx="2860000" cy="3200000"/>
          </a:xfrm>
          <a:prstGeom prst="rect">
            <a:avLst/>
          </a:prstGeom>
          <a:solidFill>
            <a:srgbClr val="FFFFFF"/>
          </a:solidFill>
          <a:ln w="18000">
            <a:solidFill>
              <a:srgbClr val="7C3AED"/>
            </a:solidFill>
          </a:ln>
        </p:spPr>
        <p:txBody>
          <a:bodyPr wrap="square" lIns="91440" tIns="91440" rIns="91440" bIns="91440" anchor="t"/>
          <a:lstStyle/>
          <a:p>
            <a:pPr algn="l">
              <a:buNone/>
            </a:pPr>
            <a:r>
              <a:rPr lang="en-US" sz="900" b="1">
                <a:solidFill>
                  <a:srgbClr val="0F1C2E"/>
                </a:solidFill>
                <a:latin typeface="Calibri"/>
              </a:rPr>
              <a:t>Train/Test Split (70/30)</a:t>
            </a:r>
          </a:p>
          <a:p>
            <a:pPr algn="l">
              <a:buNone/>
            </a:pPr>
            <a:r>
              <a:rPr lang="en-US" sz="850" b="0">
                <a:solidFill>
                  <a:srgbClr val="475569"/>
                </a:solidFill>
                <a:latin typeface="Calibri"/>
              </a:rPr>
              <a:t>Strict time-ordered split. 70% training, 30% held-out test. No data leakage — test window never seen during training.</a:t>
            </a:r>
          </a:p>
          <a:p>
            <a:pPr>
              <a:spcBef>
                <a:spcPts val="400"/>
              </a:spcBef>
              <a:buNone/>
            </a:pPr>
            <a:endParaRPr lang="en-US" sz="850" b="0">
              <a:solidFill>
                <a:srgbClr val="475569"/>
              </a:solidFill>
              <a:latin typeface="Calibri"/>
            </a:endParaRPr>
          </a:p>
          <a:p>
            <a:pPr algn="l">
              <a:buNone/>
            </a:pPr>
            <a:r>
              <a:rPr lang="en-US" sz="900" b="1">
                <a:solidFill>
                  <a:srgbClr val="0F1C2E"/>
                </a:solidFill>
                <a:latin typeface="Calibri"/>
              </a:rPr>
              <a:t>Three Models Trained</a:t>
            </a:r>
          </a:p>
          <a:p>
            <a:pPr algn="l">
              <a:buNone/>
            </a:pPr>
            <a:r>
              <a:rPr lang="en-US" sz="850" b="0">
                <a:solidFill>
                  <a:srgbClr val="475569"/>
                </a:solidFill>
                <a:latin typeface="Calibri"/>
              </a:rPr>
              <a:t>SARIMA (1,1,1)(1,1,1,4): statistical baseline. Prophet: trend + holiday decomposition. Gradient Boosting: best MAPE 17.1%.</a:t>
            </a:r>
          </a:p>
          <a:p>
            <a:pPr>
              <a:spcBef>
                <a:spcPts val="400"/>
              </a:spcBef>
              <a:buNone/>
            </a:pPr>
            <a:endParaRPr lang="en-US" sz="850" b="0">
              <a:solidFill>
                <a:srgbClr val="475569"/>
              </a:solidFill>
              <a:latin typeface="Calibri"/>
            </a:endParaRPr>
          </a:p>
          <a:p>
            <a:pPr algn="l">
              <a:buNone/>
            </a:pPr>
            <a:r>
              <a:rPr lang="en-US" sz="900" b="1">
                <a:solidFill>
                  <a:srgbClr val="0F1C2E"/>
                </a:solidFill>
                <a:latin typeface="Calibri"/>
              </a:rPr>
              <a:t>Cluster-Level GBR/RF</a:t>
            </a:r>
          </a:p>
          <a:p>
            <a:pPr algn="l">
              <a:buNone/>
            </a:pPr>
            <a:r>
              <a:rPr lang="en-US" sz="850" b="0">
                <a:solidFill>
                  <a:srgbClr val="475569"/>
                </a:solidFill>
                <a:latin typeface="Calibri"/>
              </a:rPr>
              <a:t>Per-cluster GBR / RF models trained after DTW assignment. Volatile clusters use conservative hyperparameters (lr=0.02, max_depth=3).</a:t>
            </a:r>
          </a:p>
          <a:p>
            <a:pPr>
              <a:spcBef>
                <a:spcPts val="400"/>
              </a:spcBef>
              <a:buNone/>
            </a:pPr>
            <a:endParaRPr lang="en-US" sz="850" b="0">
              <a:solidFill>
                <a:srgbClr val="475569"/>
              </a:solidFill>
              <a:latin typeface="Calibri"/>
            </a:endParaRPr>
          </a:p>
          <a:p>
            <a:pPr algn="l">
              <a:buNone/>
            </a:pPr>
            <a:r>
              <a:rPr lang="en-US" sz="900" b="1">
                <a:solidFill>
                  <a:srgbClr val="0F1C2E"/>
                </a:solidFill>
                <a:latin typeface="Calibri"/>
              </a:rPr>
              <a:t>iTransformer Advantage</a:t>
            </a:r>
          </a:p>
          <a:p>
            <a:pPr algn="l">
              <a:buNone/>
            </a:pPr>
            <a:r>
              <a:rPr lang="en-US" sz="850" b="0">
                <a:solidFill>
                  <a:srgbClr val="475569"/>
                </a:solidFill>
                <a:latin typeface="Calibri"/>
              </a:rPr>
              <a:t>Attention over variates (not timesteps) captures cross-feature correlations — especially useful for correlated lag features in weekly retail data.</a:t>
            </a:r>
          </a:p>
        </p:txBody>
      </p:sp>
      <p:sp>
        <p:nvSpPr>
          <p:cNvPr id="14" name="footer"/>
          <p:cNvSpPr/>
          <p:nvPr/>
        </p:nvSpPr>
        <p:spPr>
          <a:xfrm>
            <a:off x="0" y="5033010"/>
            <a:ext cx="9134475" cy="14097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Sales Revenue Forecasting — Online Retail |  Deliverable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3-28 at 3.19.22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"/>
            <a:ext cx="9144000" cy="2505710"/>
          </a:xfrm>
          <a:prstGeom prst="rect">
            <a:avLst/>
          </a:prstGeom>
        </p:spPr>
      </p:pic>
      <p:sp>
        <p:nvSpPr>
          <p:cNvPr id="4" name="hba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al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itle"/>
          <p:cNvSpPr/>
          <p:nvPr/>
        </p:nvSpPr>
        <p:spPr>
          <a:xfrm>
            <a:off x="320040" y="73152"/>
            <a:ext cx="73152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</a:rPr>
              <a:t>iTransformer — Results </a:t>
            </a:r>
          </a:p>
        </p:txBody>
      </p:sp>
      <p:sp>
        <p:nvSpPr>
          <p:cNvPr id="20" name="Shape 18"/>
          <p:cNvSpPr/>
          <p:nvPr/>
        </p:nvSpPr>
        <p:spPr>
          <a:xfrm>
            <a:off x="439420" y="3237230"/>
            <a:ext cx="3528060" cy="17195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sym typeface="+mn-ea"/>
            </a:endParaRPr>
          </a:p>
          <a:p>
            <a:pPr algn="ctr"/>
            <a:endParaRPr sz="1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sym typeface="+mn-ea"/>
            </a:endParaRPr>
          </a:p>
          <a:p>
            <a:pPr algn="ctr"/>
            <a:r>
              <a:rPr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Validation MAPE: 1.76% (best)</a:t>
            </a:r>
            <a:endParaRPr sz="1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  <a:p>
            <a:pPr algn="ctr"/>
            <a:r>
              <a:rPr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Test MAPE: 15.93%</a:t>
            </a:r>
            <a:endParaRPr sz="1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  <a:p>
            <a:pPr algn="ctr"/>
            <a:r>
              <a:rPr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Test MAE: £66,794</a:t>
            </a:r>
            <a:endParaRPr sz="1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  <a:p>
            <a:endParaRPr lang="en-US" sz="1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39420" y="3237230"/>
            <a:ext cx="3536315" cy="28829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pPr algn="ctr"/>
            <a:r>
              <a:rPr sz="1400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Performance Metrics</a:t>
            </a:r>
            <a:endParaRPr lang="en-US" sz="1400" b="1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10" name="Shape 18"/>
          <p:cNvSpPr/>
          <p:nvPr/>
        </p:nvSpPr>
        <p:spPr>
          <a:xfrm>
            <a:off x="4909820" y="3211830"/>
            <a:ext cx="3528060" cy="17195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sym typeface="+mn-ea"/>
            </a:endParaRPr>
          </a:p>
          <a:p>
            <a:pPr algn="l"/>
            <a:r>
              <a:rPr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• Strong trend &amp; seasonality capture</a:t>
            </a:r>
            <a:endParaRPr sz="1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  <a:p>
            <a:pPr algn="l"/>
            <a:r>
              <a:rPr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• Low bias (residuals ~0)</a:t>
            </a:r>
            <a:endParaRPr sz="1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  <a:p>
            <a:pPr algn="l"/>
            <a:r>
              <a:rPr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• Stable errors; slight holiday deviations</a:t>
            </a:r>
            <a:endParaRPr sz="1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  <a:p>
            <a:pPr algn="ctr"/>
            <a:endParaRPr lang="en-US" sz="1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Shape 19"/>
          <p:cNvSpPr/>
          <p:nvPr/>
        </p:nvSpPr>
        <p:spPr>
          <a:xfrm>
            <a:off x="4909820" y="3211830"/>
            <a:ext cx="3536315" cy="28829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pPr algn="ctr"/>
            <a:r>
              <a:rPr sz="1600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Insights</a:t>
            </a:r>
            <a:endParaRPr lang="en-US" sz="1600" b="1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Business Value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</a:rPr>
              <a:t>Tangible Impact for Business Operations &amp; Customers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Sales Revenue Forecasting — Online Retail |  Deliverable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411480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4114800" cy="32004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BUSINESS IMPACT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106424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📦 Inventory Planning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1353312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Cluster-based forecasts allow different stocking strategies per product group, reducing overstock and stockouts by an estimated 15–25% and cutting holding costs.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1975104"/>
            <a:ext cx="3794760" cy="9144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020824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⚠️ Demand Risk Reduction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267712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By tracking MAPE over time, businesses can detect forecast drift early and take corrective actions.</a:t>
            </a:r>
          </a:p>
        </p:txBody>
      </p:sp>
      <p:sp>
        <p:nvSpPr>
          <p:cNvPr id="16" name="Shape 14"/>
          <p:cNvSpPr/>
          <p:nvPr/>
        </p:nvSpPr>
        <p:spPr>
          <a:xfrm>
            <a:off x="411480" y="2889504"/>
            <a:ext cx="3794760" cy="9144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935224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📊 Service Level Improvement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182112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Accurate demand signals allow buffer stock calibration, targeting 95%+ product availability during peak periods (Nov–Dec).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3803904"/>
            <a:ext cx="3794760" cy="9144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849624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🔄 Retraining Cadence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4096512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Automated weekly pipeline with drift monitoring; model retraining triggered when MAPE exceeds threshold — ensuring sustained accuracy.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749808"/>
            <a:ext cx="411480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09160" y="749808"/>
            <a:ext cx="4114800" cy="32004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0600" y="749808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 BENEFIT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1106424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🛒 Product Availability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1353312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Better stock forecasting means customers find products in stock — especially high-velocity lines during holiday season.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46320" y="1975104"/>
            <a:ext cx="3794760" cy="9144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2020824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💰 Pricing Stability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2267712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Reduced supply-chain reactivity prevents panic pricing and last-minute markdowns, delivering more consistent pricing.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46320" y="2889504"/>
            <a:ext cx="3794760" cy="9144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2935224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⚡ Faster Fulfilment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3182112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Pre-positioned inventory from accurate forecasts shortens order-to-delivery time for top SKUs.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3803904"/>
            <a:ext cx="3794760" cy="9144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3849624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🌍 Multi-Region Visibility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4096512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Cluster models cover 40+ countries; UK-heavy bias corrected by segment — no one market distorts another's plan.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Agentic UX — Live Forecast Results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</a:rPr>
              <a:t>Cluster-Based Model  ·  Product 85123A  ·  4-Week Forward Forecast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Sales Revenue Forecasting — Online Retail |  Deliverable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13232"/>
            <a:ext cx="5486400" cy="320040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713232"/>
            <a:ext cx="2834640" cy="3200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4320" y="4005072"/>
            <a:ext cx="8595360" cy="914400"/>
          </a:xfrm>
          <a:prstGeom prst="rect">
            <a:avLst/>
          </a:prstGeom>
          <a:solidFill>
            <a:srgbClr val="F0FDF4"/>
          </a:solidFill>
          <a:ln w="9525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11480" y="4041648"/>
            <a:ext cx="8321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System Flow: User types product ID  →  Agent router classifies intent + entity  →  Cluster resolver maps to product_cluster_03  →  GBR model loads &amp; produces 4-week forecast  →  UI renders actuals + forecast chart + MAPE note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11480" y="4553712"/>
            <a:ext cx="1600200" cy="27432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11480" y="4553712"/>
            <a:ext cx="1600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Cluster: steady-flat-products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2093976" y="4553712"/>
            <a:ext cx="1600200" cy="27432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2093976" y="4553712"/>
            <a:ext cx="1600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MAPE: ~17%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3776472" y="4553712"/>
            <a:ext cx="1600200" cy="27432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776472" y="4553712"/>
            <a:ext cx="1600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Forecast Total: £6,887.72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5458968" y="4553712"/>
            <a:ext cx="1600200" cy="27432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458968" y="4553712"/>
            <a:ext cx="1600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12-wk avg: £2,067.62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7141464" y="4553712"/>
            <a:ext cx="1600200" cy="27432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7141464" y="4553712"/>
            <a:ext cx="1600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First-week Δ: -9.2%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12-Week Forward Forecast — Gradient Boosting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</a:rPr>
              <a:t>Jan–Mar 2012  |  Total Projected Revenue: £3,517,711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Sales Revenue Forecasting — Online Retail |  Deliverable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1993392" cy="9144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841248"/>
            <a:ext cx="199339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£3,517,711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" y="1316736"/>
            <a:ext cx="199339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12-Week Total Forecast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50592" y="749808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50592" y="749808"/>
            <a:ext cx="1993392" cy="91440"/>
          </a:xfrm>
          <a:prstGeom prst="rect">
            <a:avLst/>
          </a:prstGeom>
          <a:solidFill>
            <a:srgbClr val="22C55E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50592" y="841248"/>
            <a:ext cx="199339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</a:rPr>
              <a:t>17.1%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50592" y="1316736"/>
            <a:ext cx="199339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MAPE (0–100)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26864" y="749808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26864" y="749808"/>
            <a:ext cx="1993392" cy="9144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26864" y="841248"/>
            <a:ext cx="199339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+0.10%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26864" y="1316736"/>
            <a:ext cx="199339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Forecast Bias (FB%)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03136" y="749808"/>
            <a:ext cx="19933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03136" y="749808"/>
            <a:ext cx="1993392" cy="9144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03136" y="841248"/>
            <a:ext cx="199339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</a:rPr>
              <a:t>£293,143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03136" y="1316736"/>
            <a:ext cx="199339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Avg Weekly Forecast</a:t>
            </a:r>
            <a:endParaRPr lang="en-US" sz="8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274320" y="1820164"/>
          <a:ext cx="85953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Text 22"/>
          <p:cNvSpPr/>
          <p:nvPr/>
        </p:nvSpPr>
        <p:spPr>
          <a:xfrm>
            <a:off x="274320" y="4663440"/>
            <a:ext cx="8595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Note: Forecast generated by Gradient Boosting model retrained on full dataset (train + val + test). Values represent projected weekly sales revenue (£).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Challenges, Findings &amp; Future Phases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</a:rPr>
              <a:t>Phase 2 Complete — Path to MAPE &lt; 15%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Sales Revenue Forecasting — Online Retail |  Deliverable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4114800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4114800" cy="27432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749808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 KEY FINDINGS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1078992"/>
            <a:ext cx="182880" cy="18288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024128"/>
            <a:ext cx="36393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Gradient Boosting outperforms SARIMA &amp; Prophet on volatile retail revenue series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4048" y="1591056"/>
            <a:ext cx="182880" cy="18288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1536192"/>
            <a:ext cx="36393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Cluster-based approach (DTW + Agglomerative) enables product-level personalised forecasting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4048" y="2103120"/>
            <a:ext cx="182880" cy="18288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048256"/>
            <a:ext cx="36393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SARIMA (MAPE 76.7%) struggles with high holiday-period volatility in test window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4048" y="2615184"/>
            <a:ext cx="182880" cy="18288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2560320"/>
            <a:ext cx="36393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Prophet (MAPE 20.3%) performs well but trails GB despite lower MAE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4048" y="3127248"/>
            <a:ext cx="182880" cy="18288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072384"/>
            <a:ext cx="36393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Rev_Lag52 (YoY) and NumInvoices are highest correlated features (r=0.87, 0.83)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3639312"/>
            <a:ext cx="182880" cy="18288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584448"/>
            <a:ext cx="36393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Holiday season (Nov–Dec) consistently drives 50–65% revenue spikes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17720" y="749808"/>
            <a:ext cx="4206240" cy="1828800"/>
          </a:xfrm>
          <a:prstGeom prst="rect">
            <a:avLst/>
          </a:prstGeom>
          <a:solidFill>
            <a:srgbClr val="FFF7ED"/>
          </a:solidFill>
          <a:ln w="9525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17720" y="749808"/>
            <a:ext cx="4206240" cy="274320"/>
          </a:xfrm>
          <a:prstGeom prst="rect">
            <a:avLst/>
          </a:prstGeom>
          <a:solidFill>
            <a:srgbClr val="B45309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17720" y="749808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CHALLENGES ENCOUNTERED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36592" y="1069848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</a:rPr>
              <a:t>⚠  22.8% missing Customer IDs — managed via aggregate forecasting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36592" y="1453896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</a:rPr>
              <a:t>⚠  High revenue volatility in test window (holiday spike) challenged SARIMA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36592" y="1837944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</a:rPr>
              <a:t>⚠  Rev_Lag52 feature limited to 52+ week records only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36592" y="2221992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</a:rPr>
              <a:t>⚠  MAPE target of 15% not yet achieved — 17.1% in Phase 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17720" y="2688336"/>
            <a:ext cx="4206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17720" y="2688336"/>
            <a:ext cx="4206240" cy="27432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17720" y="2688336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FUTURE PHASES ROADMAP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2999105"/>
            <a:ext cx="1901825" cy="40005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09160" y="2999105"/>
            <a:ext cx="1901825" cy="3479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3: Interactive Dashboard</a:t>
            </a:r>
          </a:p>
        </p:txBody>
      </p:sp>
      <p:sp>
        <p:nvSpPr>
          <p:cNvPr id="35" name="Text 33"/>
          <p:cNvSpPr/>
          <p:nvPr/>
        </p:nvSpPr>
        <p:spPr>
          <a:xfrm>
            <a:off x="4709795" y="3291840"/>
            <a:ext cx="1900555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Live ops dashboard: weekly actuals vs forecast, MAPE tracking, holiday alerts, cluster-level demand visibility.</a:t>
            </a:r>
          </a:p>
        </p:txBody>
      </p:sp>
      <p:sp>
        <p:nvSpPr>
          <p:cNvPr id="36" name="Shape 34"/>
          <p:cNvSpPr/>
          <p:nvPr/>
        </p:nvSpPr>
        <p:spPr>
          <a:xfrm>
            <a:off x="6739255" y="2999105"/>
            <a:ext cx="1901825" cy="40005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739255" y="2999105"/>
            <a:ext cx="1901825" cy="4000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4: Deployment &amp; Monitoring</a:t>
            </a:r>
          </a:p>
        </p:txBody>
      </p:sp>
      <p:sp>
        <p:nvSpPr>
          <p:cNvPr id="38" name="Text 36"/>
          <p:cNvSpPr/>
          <p:nvPr/>
        </p:nvSpPr>
        <p:spPr>
          <a:xfrm>
            <a:off x="6739890" y="3291840"/>
            <a:ext cx="1900555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Automated weekly pipeline, drift monitoring, retraining cadence, fallback to heuristic when MAPE spikes.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Phase 2 Deliverables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</a:rPr>
              <a:t>Complete End-to-End Cluster-Based Forecasting Platform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C2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Sales Revenue Forecasting — Online Retail II  |  Deliverable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41148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457200" cy="187452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749808"/>
            <a:ext cx="45720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859536"/>
            <a:ext cx="345643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Jupyter Notebook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152144"/>
            <a:ext cx="34564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Deliverable2.ipynb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" y="1389888"/>
            <a:ext cx="3456432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13-step end-to-end pipeline with markdown documentation, DTW clustering, GBR/RF per cluster, MAPE evaluation, and forecast visualisations.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9160" y="749808"/>
            <a:ext cx="41148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09160" y="749808"/>
            <a:ext cx="457200" cy="187452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749808"/>
            <a:ext cx="45720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57800" y="859536"/>
            <a:ext cx="345643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Technical Architecture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1152144"/>
            <a:ext cx="34564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arch_diagram.png + docker-compose.yml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57800" y="1389888"/>
            <a:ext cx="3456432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Full system design: FastAPI + SQLAlchemy + PostgreSQL 16 + Heuristic / Ollama agent router + artifact store. Docker Compose orchestrated.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761488"/>
            <a:ext cx="41148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2761488"/>
            <a:ext cx="457200" cy="187452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761488"/>
            <a:ext cx="45720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" y="2871216"/>
            <a:ext cx="345643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Forecast API &amp; UI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163824"/>
            <a:ext cx="34564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FastAPI app — port 8001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" y="3401568"/>
            <a:ext cx="3456432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Browser-based forecast assistant: POST /agent/query, GET /history, GET /context, POST /pipeline/train. Chat UI + actuals chart + MAPE note.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2761488"/>
            <a:ext cx="41148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09160" y="2761488"/>
            <a:ext cx="457200" cy="1874520"/>
          </a:xfrm>
          <a:prstGeom prst="rect">
            <a:avLst/>
          </a:prstGeom>
          <a:solidFill>
            <a:srgbClr val="EF4444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9160" y="2761488"/>
            <a:ext cx="45720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57800" y="2871216"/>
            <a:ext cx="345643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Project Deck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57800" y="3163824"/>
            <a:ext cx="34564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Sales_Forecasting_Deck_2.pptx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57800" y="3401568"/>
            <a:ext cx="3456432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Executive-grade presentation for professor review, synthesising Deliverable 2 methodology, results, architecture, and business value.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</a:rPr>
              <a:t>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28800" cy="411480"/>
          </a:xfrm>
          <a:prstGeom prst="rect">
            <a:avLst/>
          </a:prstGeom>
          <a:solidFill>
            <a:srgbClr val="0D9488">
              <a:alpha val="8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Dataset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423160" y="960120"/>
            <a:ext cx="6400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Online Retail  |  1,067,371 transactions  |  Dec 2009 – Dec 2011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828800" cy="411480"/>
          </a:xfrm>
          <a:prstGeom prst="rect">
            <a:avLst/>
          </a:prstGeom>
          <a:solidFill>
            <a:srgbClr val="0D9488">
              <a:alpha val="8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Clustering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23160" y="1508760"/>
            <a:ext cx="6400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DTW Distance + Agglomerative Clustering  →  Segment-level product/customer models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1828800" cy="411480"/>
          </a:xfrm>
          <a:prstGeom prst="rect">
            <a:avLst/>
          </a:prstGeom>
          <a:solidFill>
            <a:srgbClr val="0D9488">
              <a:alpha val="8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Models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23160" y="2057400"/>
            <a:ext cx="6400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SARIMA (MAPE 76.7%)  |  Prophet (MAPE 20.3%)  |  Gradient Boosting (MAPE 17.1%)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1828800" cy="411480"/>
          </a:xfrm>
          <a:prstGeom prst="rect">
            <a:avLst/>
          </a:prstGeom>
          <a:solidFill>
            <a:srgbClr val="0D9488">
              <a:alpha val="8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5603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Best Model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23160" y="2606040"/>
            <a:ext cx="6400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Gradient Boosting  |  MAPE: 17.1%  |  FB: +0.10%  |  Cluster-aware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1828800" cy="411480"/>
          </a:xfrm>
          <a:prstGeom prst="rect">
            <a:avLst/>
          </a:prstGeom>
          <a:solidFill>
            <a:srgbClr val="0D9488">
              <a:alpha val="8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Forecast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23160" y="3154680"/>
            <a:ext cx="6400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12-Week Forward: £3,517,711 (Jan–Mar 2012)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1828800" cy="411480"/>
          </a:xfrm>
          <a:prstGeom prst="rect">
            <a:avLst/>
          </a:prstGeom>
          <a:solidFill>
            <a:srgbClr val="0D9488">
              <a:alpha val="8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Architecture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423160" y="3703320"/>
            <a:ext cx="6400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FastAPI + PostgreSQL + Docker  |  Heuristic / Ollama agent routing  |  Browser UI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1828800" cy="411480"/>
          </a:xfrm>
          <a:prstGeom prst="rect">
            <a:avLst/>
          </a:prstGeom>
          <a:solidFill>
            <a:srgbClr val="0D9488">
              <a:alpha val="8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Next Steps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423160" y="4251960"/>
            <a:ext cx="6400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Phase 3: Dashboard  |  Phase 4: Deployment, drift monitoring, retraining cadence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0D9488">
              <a:alpha val="5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809744"/>
            <a:ext cx="8229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Sales Revenue Forecasting — Online Retail  |  Deliverable 2  |  BROCODE  |  Feb 2026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</a:rPr>
              <a:t>TEAM BROCODE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Sales Revenue Forecasting | Online Retail  | Deliverable 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97280" y="1508760"/>
            <a:ext cx="1371600" cy="1371600"/>
          </a:xfrm>
          <a:prstGeom prst="rect">
            <a:avLst/>
          </a:prstGeom>
          <a:solidFill>
            <a:srgbClr val="1A3352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508760"/>
            <a:ext cx="1371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</a:rPr>
              <a:t>AK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Ayush Kumar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310128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ML Engineer &amp; Pipeline Architect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566160" y="1508760"/>
            <a:ext cx="1371600" cy="1371600"/>
          </a:xfrm>
          <a:prstGeom prst="rect">
            <a:avLst/>
          </a:prstGeom>
          <a:solidFill>
            <a:srgbClr val="1A3352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66160" y="1508760"/>
            <a:ext cx="1371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</a:rPr>
              <a:t>AM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2999232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Aditi Mittal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3310128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Data Processing &amp; Feature Engineering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5040" y="1508760"/>
            <a:ext cx="1371600" cy="1371600"/>
          </a:xfrm>
          <a:prstGeom prst="rect">
            <a:avLst/>
          </a:prstGeom>
          <a:solidFill>
            <a:srgbClr val="1A3352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0" y="1508760"/>
            <a:ext cx="1371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</a:rPr>
              <a:t>ST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852160" y="2999232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Shweta Tripathi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06440" y="3310128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Model Evaluation &amp; Presentation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Online </a:t>
            </a:r>
            <a:r>
              <a:rPr lang="en-US" sz="900" i="1">
                <a:solidFill>
                  <a:srgbClr val="94A3B8"/>
                </a:solidFill>
              </a:rPr>
              <a:t>Retail   </a:t>
            </a:r>
            <a:r>
              <a:rPr lang="en-US" sz="900" i="1" dirty="0">
                <a:solidFill>
                  <a:srgbClr val="94A3B8"/>
                </a:solidFill>
              </a:rPr>
              <a:t>|  UCI ML Repository  |  Feb 2026</a:t>
            </a:r>
            <a:endParaRPr lang="en-US" sz="900" dirty="0"/>
          </a:p>
        </p:txBody>
      </p:sp>
      <p:pic>
        <p:nvPicPr>
          <p:cNvPr id="734" name="Google Shape;734;g395816e5484_0_5" title="1751031045084.jpe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954835" y="1398000"/>
            <a:ext cx="1592826" cy="159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g395816e5484_0_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505383" y="1395225"/>
            <a:ext cx="1572975" cy="157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g395816e5484_0_5" title="Screenshot 2026-02-28 at 6.32.12 PM.png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6034985" y="1407690"/>
            <a:ext cx="1429534" cy="157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3319</Words>
  <Application>Microsoft Macintosh PowerPoint</Application>
  <PresentationFormat>On-screen Show (16:9)</PresentationFormat>
  <Paragraphs>616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Cluster-Based Forecasting Platform — Deliverable 2</dc:title>
  <dc:subject>PptxGenJS Presentation</dc:subject>
  <dc:creator>PptxGenJS</dc:creator>
  <cp:lastModifiedBy>ak5486</cp:lastModifiedBy>
  <cp:revision>24</cp:revision>
  <dcterms:created xsi:type="dcterms:W3CDTF">2026-03-28T23:35:52Z</dcterms:created>
  <dcterms:modified xsi:type="dcterms:W3CDTF">2026-03-28T23:46:24Z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