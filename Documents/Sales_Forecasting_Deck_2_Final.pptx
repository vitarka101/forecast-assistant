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6"/>
    <p:sldId id="261" r:id="rId7"/>
    <p:sldId id="275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8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80" b="0" i="0" u="none" strike="noStrike">
                <a:solidFill>
                  <a:srgbClr val="000000"/>
                </a:solidFill>
                <a:latin typeface="Arial" panose="020B0604020202020204"/>
              </a:rPr>
              <a:t>MAPE (%) —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D2-C447-88B1-E5304836B3F2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D2-C447-88B1-E5304836B3F2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D2-C447-88B1-E5304836B3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SARIMA</c:v>
                </c:pt>
                <c:pt idx="1">
                  <c:v>Prophet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76.7</c:v>
                </c:pt>
                <c:pt idx="1">
                  <c:v>20.3</c:v>
                </c:pt>
                <c:pt idx="2">
                  <c:v>17.100000000000001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D2-C447-88B1-E5304836B3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FFFFF"/>
    </a:solidFill>
    <a:ln>
      <a:noFill/>
    </a:ln>
    <a:effectLst/>
  </c:spPr>
  <c:txPr>
    <a:bodyPr/>
    <a:lstStyle/>
    <a:p>
      <a:pPr>
        <a:defRPr lang="en-US" sz="9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8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80" b="0" i="0" u="none" strike="noStrike">
                <a:solidFill>
                  <a:srgbClr val="000000"/>
                </a:solidFill>
                <a:latin typeface="Arial" panose="020B0604020202020204"/>
              </a:rPr>
              <a:t>Weekly Revenue Forecast £ — Gradient Boosting (Retrained on Full Dataset)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(£)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W1 Jan</c:v>
                </c:pt>
                <c:pt idx="1">
                  <c:v>W2 Jan</c:v>
                </c:pt>
                <c:pt idx="2">
                  <c:v>W3 Jan</c:v>
                </c:pt>
                <c:pt idx="3">
                  <c:v>W4 Jan</c:v>
                </c:pt>
                <c:pt idx="4">
                  <c:v>W1 Feb</c:v>
                </c:pt>
                <c:pt idx="5">
                  <c:v>W2 Feb</c:v>
                </c:pt>
                <c:pt idx="6">
                  <c:v>W3 Feb</c:v>
                </c:pt>
                <c:pt idx="7">
                  <c:v>W4 Feb</c:v>
                </c:pt>
                <c:pt idx="8">
                  <c:v>W1 Mar</c:v>
                </c:pt>
                <c:pt idx="9">
                  <c:v>W2 Mar</c:v>
                </c:pt>
                <c:pt idx="10">
                  <c:v>W3 Mar</c:v>
                </c:pt>
                <c:pt idx="11">
                  <c:v>W4 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285000</c:v>
                </c:pt>
                <c:pt idx="1">
                  <c:v>310000</c:v>
                </c:pt>
                <c:pt idx="2">
                  <c:v>298000</c:v>
                </c:pt>
                <c:pt idx="3">
                  <c:v>320000</c:v>
                </c:pt>
                <c:pt idx="4">
                  <c:v>275000</c:v>
                </c:pt>
                <c:pt idx="5">
                  <c:v>295000</c:v>
                </c:pt>
                <c:pt idx="6">
                  <c:v>305000</c:v>
                </c:pt>
                <c:pt idx="7">
                  <c:v>285000</c:v>
                </c:pt>
                <c:pt idx="8">
                  <c:v>290000</c:v>
                </c:pt>
                <c:pt idx="9">
                  <c:v>308000</c:v>
                </c:pt>
                <c:pt idx="10">
                  <c:v>315000</c:v>
                </c:pt>
                <c:pt idx="11">
                  <c:v>232000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79-8041-B1EC-5CD7F9E95E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FFFFF"/>
    </a:solidFill>
    <a:ln>
      <a:noFill/>
    </a:ln>
    <a:effectLst/>
  </c:spPr>
  <c:txPr>
    <a:bodyPr/>
    <a:lstStyle/>
    <a:p>
      <a:pPr>
        <a:defRPr lang="en-US" sz="9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</a:rPr>
              <a:t>CLUSTER-BASED RETAIL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14B8A6"/>
                </a:solidFill>
              </a:rPr>
              <a:t>FORECASTING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Agentic AI Query Routing  ·  Docker  ·  FastAPI  ·  PostgreSQL  ·  LLM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724912"/>
            <a:ext cx="1600200" cy="292608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724912"/>
            <a:ext cx="1600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DELIVERABLE 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0" y="2724912"/>
            <a:ext cx="1600200" cy="292608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2724912"/>
            <a:ext cx="1600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BROCODE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69080" y="2724912"/>
            <a:ext cx="1600200" cy="292608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69080" y="2724912"/>
            <a:ext cx="1600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March 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448056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Ayush Kumar  ·  Aditi Mittal  ·  Shweta Tripathi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274320"/>
            <a:ext cx="2560320" cy="2560320"/>
          </a:xfrm>
          <a:prstGeom prst="rect">
            <a:avLst/>
          </a:prstGeom>
          <a:solidFill>
            <a:srgbClr val="0D9488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0" y="2286000"/>
            <a:ext cx="1645920" cy="1645920"/>
          </a:xfrm>
          <a:prstGeom prst="rect">
            <a:avLst/>
          </a:prstGeom>
          <a:solidFill>
            <a:srgbClr val="F59E0B">
              <a:alpha val="15000"/>
            </a:srgb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Agenda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Sales Revenue Forecasting | Online Retail II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7724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81381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Problem &amp; Business Objective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112471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Why forecast? What does it enable?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572768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572768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572768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160934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Dataset &amp; Pipeline Overview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19202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Online Retail II — 1M+ transactions, 13-step pipeline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368296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368296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368296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40487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Data Processing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2715768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Diagnostics, cleaning, 94.4% record retention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163824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163824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163824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32004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Target Variable &amp; Feature Engineering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3511296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Weekly revenue + 26 predictive features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959352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959352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959352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399592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Pre-Modeling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" y="4306824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Stationarity, train/val/test split, hyperparameters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777240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777240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77724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66360" y="81381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Model Building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66360" y="112471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SARIMA | Prophet | Gradient Boosting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1572768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09160" y="1572768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9160" y="1572768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66360" y="160934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Results &amp; Model Selection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66360" y="19202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MAPE comparison — Gradient Boosting wins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9160" y="2368296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09160" y="2368296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9160" y="2368296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66360" y="240487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Technical Architecture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66360" y="2715768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System design for cluster-based forecasting platform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09160" y="3163824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09160" y="3163824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09160" y="3163824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166360" y="32004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66360" y="3511296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Inventory, demand risk, service levels, customer benefit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3959352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09160" y="3959352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09160" y="3959352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166360" y="399592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12-Week Forecast &amp; Deliverables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66360" y="4306824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£3.5M projected revenue | Cluster-based results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 &amp; Business Objective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Why Weekly Revenue Forecasting?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804672"/>
          </a:xfrm>
          <a:prstGeom prst="rect">
            <a:avLst/>
          </a:prstGeom>
          <a:solidFill>
            <a:srgbClr val="FFF7ED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2011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2011680" cy="34747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9245" y="1637030"/>
            <a:ext cx="1976755" cy="391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🎯  Forecast Accuracy (MAPE)</a:t>
            </a:r>
          </a:p>
        </p:txBody>
      </p:sp>
      <p:sp>
        <p:nvSpPr>
          <p:cNvPr id="14" name="Text 12"/>
          <p:cNvSpPr/>
          <p:nvPr/>
        </p:nvSpPr>
        <p:spPr>
          <a:xfrm>
            <a:off x="384048" y="2048256"/>
            <a:ext cx="1792224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 repeatable weekly revenue forecasting pipeline minimising MAPE for supply chain decisions.</a:t>
            </a:r>
          </a:p>
        </p:txBody>
      </p:sp>
      <p:sp>
        <p:nvSpPr>
          <p:cNvPr id="15" name="Shape 13"/>
          <p:cNvSpPr/>
          <p:nvPr/>
        </p:nvSpPr>
        <p:spPr>
          <a:xfrm>
            <a:off x="2423160" y="1664208"/>
            <a:ext cx="2011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23160" y="1664208"/>
            <a:ext cx="2011680" cy="347472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23160" y="1673225"/>
            <a:ext cx="200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📦  Inventory Optimisation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32888" y="2048256"/>
            <a:ext cx="1792224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Enable operations to anticipate demand and reduce excess inventory holding costs.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0" y="1664208"/>
            <a:ext cx="2011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664208"/>
            <a:ext cx="2011680" cy="347472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5175" y="1664335"/>
            <a:ext cx="2011680" cy="3276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🔄  Standardise Methodology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81728" y="2048256"/>
            <a:ext cx="1792224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Establish reusable analytical approach for future forecasting cycles across categories.</a:t>
            </a:r>
          </a:p>
        </p:txBody>
      </p:sp>
      <p:sp>
        <p:nvSpPr>
          <p:cNvPr id="23" name="Shape 21"/>
          <p:cNvSpPr/>
          <p:nvPr/>
        </p:nvSpPr>
        <p:spPr>
          <a:xfrm>
            <a:off x="6720840" y="1664208"/>
            <a:ext cx="2011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20840" y="1664208"/>
            <a:ext cx="2011680" cy="347472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7190" y="1666875"/>
            <a:ext cx="200533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📅  Seasonal Awareness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30568" y="2048256"/>
            <a:ext cx="1792224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Capture holiday effects, promotions, and price signals affecting purchasing behaviour.</a:t>
            </a:r>
          </a:p>
        </p:txBody>
      </p:sp>
      <p:sp>
        <p:nvSpPr>
          <p:cNvPr id="109" name="Google Shape;109;p3"/>
          <p:cNvSpPr/>
          <p:nvPr/>
        </p:nvSpPr>
        <p:spPr>
          <a:xfrm>
            <a:off x="548640" y="987425"/>
            <a:ext cx="8230235" cy="44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accurate weekly revenue forecasts, operations teams face stockouts, excess inventory costs, and missed demand signals — especially around high-volatility holiday seasons (Nov–Dec) that drive 50–65% revenue spikes above baseline.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20040" y="3794760"/>
            <a:ext cx="8503920" cy="54864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02920" y="385876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Stakeholders: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2240280" y="3913632"/>
            <a:ext cx="1463040" cy="32918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2254885" y="3914267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904488" y="3913632"/>
            <a:ext cx="1463040" cy="32918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904488" y="391490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Supply Chain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568696" y="3913632"/>
            <a:ext cx="1463040" cy="32918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575046" y="3915537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232904" y="3913632"/>
            <a:ext cx="1463040" cy="32918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7255129" y="391617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Procurement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Dataset Overview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Online Retail II — UCI Machine Learning Repository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31520"/>
            <a:ext cx="1993392" cy="109728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822960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1,067,371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99339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Total Transactions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73152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731520"/>
            <a:ext cx="1993392" cy="109728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822960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2 Years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50592" y="1325880"/>
            <a:ext cx="199339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Dec 2009 – Dec 2011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26864" y="73152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731520"/>
            <a:ext cx="1993392" cy="109728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822960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40+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26864" y="1325880"/>
            <a:ext cx="199339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Countries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73152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731520"/>
            <a:ext cx="1993392" cy="109728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822960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94.4%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03136" y="1325880"/>
            <a:ext cx="199339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Records Retained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1847088"/>
            <a:ext cx="411480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1847088"/>
            <a:ext cx="4114800" cy="292608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1847088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FIELDS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157984"/>
            <a:ext cx="4114800" cy="347472"/>
          </a:xfrm>
          <a:prstGeom prst="rect">
            <a:avLst/>
          </a:prstGeom>
          <a:solidFill>
            <a:srgbClr val="F1F5F9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2203704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Invoice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20240" y="2203704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Cancellation detection (prefix C)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2560320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StockCode / Description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20240" y="2560320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Product identifier &amp; label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871216"/>
            <a:ext cx="4114800" cy="347472"/>
          </a:xfrm>
          <a:prstGeom prst="rect">
            <a:avLst/>
          </a:prstGeom>
          <a:solidFill>
            <a:srgbClr val="F1F5F9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2916936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Quantity × Price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20240" y="2916936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Revenue — target variable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3273552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InvoiceDate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920240" y="3273552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Time axis for weekly aggregation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584448"/>
            <a:ext cx="4114800" cy="347472"/>
          </a:xfrm>
          <a:prstGeom prst="rect">
            <a:avLst/>
          </a:prstGeom>
          <a:solidFill>
            <a:srgbClr val="F1F5F9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630168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Customer ID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920240" y="3630168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22.8% missing → acceptable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4048" y="3986784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Country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920240" y="3986784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UK primary + 40 international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17720" y="1847088"/>
            <a:ext cx="420624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17720" y="1847088"/>
            <a:ext cx="4206240" cy="292608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17720" y="1847088"/>
            <a:ext cx="4206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 COUNTRIES BY VOLUME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2414016"/>
            <a:ext cx="3474720" cy="155448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09160" y="2194560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United Kingdom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80960" y="2194560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9488"/>
                </a:solidFill>
              </a:rPr>
              <a:t>381,330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2889504"/>
            <a:ext cx="162797" cy="155448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9160" y="2670048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EIRE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680960" y="2670048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9488"/>
                </a:solidFill>
              </a:rPr>
              <a:t>17,866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3364992"/>
            <a:ext cx="160592" cy="155448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09160" y="3145536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Germany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80960" y="3145536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9488"/>
                </a:solidFill>
              </a:rPr>
              <a:t>17,624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3840480"/>
            <a:ext cx="130577" cy="155448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09160" y="3621024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France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680960" y="3621024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9488"/>
                </a:solidFill>
              </a:rPr>
              <a:t>14,330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4315968"/>
            <a:ext cx="46836" cy="155448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09160" y="4096512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Netherlands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680960" y="4096512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9488"/>
                </a:solidFill>
              </a:rPr>
              <a:t>5,140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13-Step Analytics Deliverable 2 Pipeline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320040" y="73152"/>
            <a:ext cx="8503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End-to-End Forecasting Workflow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Sales Revenue Forecasting | Online Retail II | V1.0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503920" y="49194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20040" y="896112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320040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20040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5"/>
          <p:cNvCxnSpPr/>
          <p:nvPr/>
        </p:nvCxnSpPr>
        <p:spPr>
          <a:xfrm>
            <a:off x="1316736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p5"/>
          <p:cNvSpPr/>
          <p:nvPr/>
        </p:nvSpPr>
        <p:spPr>
          <a:xfrm>
            <a:off x="1362456" y="896112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1362456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1362456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5"/>
          <p:cNvCxnSpPr/>
          <p:nvPr/>
        </p:nvCxnSpPr>
        <p:spPr>
          <a:xfrm>
            <a:off x="2359152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p5"/>
          <p:cNvSpPr/>
          <p:nvPr/>
        </p:nvSpPr>
        <p:spPr>
          <a:xfrm>
            <a:off x="2404872" y="896112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2404872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2404872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Diagnostics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5"/>
          <p:cNvCxnSpPr/>
          <p:nvPr/>
        </p:nvCxnSpPr>
        <p:spPr>
          <a:xfrm>
            <a:off x="3401568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9" name="Google Shape;229;p5"/>
          <p:cNvSpPr/>
          <p:nvPr/>
        </p:nvSpPr>
        <p:spPr>
          <a:xfrm>
            <a:off x="3447288" y="896112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3447288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3447288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5"/>
          <p:cNvCxnSpPr/>
          <p:nvPr/>
        </p:nvCxnSpPr>
        <p:spPr>
          <a:xfrm>
            <a:off x="4443984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5"/>
          <p:cNvSpPr/>
          <p:nvPr/>
        </p:nvSpPr>
        <p:spPr>
          <a:xfrm>
            <a:off x="4489704" y="896112"/>
            <a:ext cx="996696" cy="713232"/>
          </a:xfrm>
          <a:prstGeom prst="rect">
            <a:avLst/>
          </a:prstGeom>
          <a:solidFill>
            <a:srgbClr val="065F46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4489704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489704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5"/>
          <p:cNvCxnSpPr/>
          <p:nvPr/>
        </p:nvCxnSpPr>
        <p:spPr>
          <a:xfrm>
            <a:off x="5486400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5"/>
          <p:cNvSpPr/>
          <p:nvPr/>
        </p:nvSpPr>
        <p:spPr>
          <a:xfrm>
            <a:off x="5532120" y="896112"/>
            <a:ext cx="996696" cy="713232"/>
          </a:xfrm>
          <a:prstGeom prst="rect">
            <a:avLst/>
          </a:prstGeom>
          <a:solidFill>
            <a:srgbClr val="065F46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5532120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532120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5"/>
          <p:cNvCxnSpPr/>
          <p:nvPr/>
        </p:nvCxnSpPr>
        <p:spPr>
          <a:xfrm>
            <a:off x="6528816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" name="Google Shape;241;p5"/>
          <p:cNvSpPr/>
          <p:nvPr/>
        </p:nvSpPr>
        <p:spPr>
          <a:xfrm>
            <a:off x="6574536" y="896112"/>
            <a:ext cx="996696" cy="713232"/>
          </a:xfrm>
          <a:prstGeom prst="rect">
            <a:avLst/>
          </a:prstGeom>
          <a:solidFill>
            <a:srgbClr val="065F46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6574536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574536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Stationarity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5"/>
          <p:cNvCxnSpPr/>
          <p:nvPr/>
        </p:nvCxnSpPr>
        <p:spPr>
          <a:xfrm>
            <a:off x="7571232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p5"/>
          <p:cNvSpPr/>
          <p:nvPr/>
        </p:nvSpPr>
        <p:spPr>
          <a:xfrm>
            <a:off x="7616952" y="896112"/>
            <a:ext cx="996696" cy="713232"/>
          </a:xfrm>
          <a:prstGeom prst="rect">
            <a:avLst/>
          </a:prstGeom>
          <a:solidFill>
            <a:srgbClr val="3B0764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7616952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7616952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Train/Test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5"/>
          <p:cNvCxnSpPr/>
          <p:nvPr/>
        </p:nvCxnSpPr>
        <p:spPr>
          <a:xfrm>
            <a:off x="8115300" y="1609344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5"/>
          <p:cNvSpPr/>
          <p:nvPr/>
        </p:nvSpPr>
        <p:spPr>
          <a:xfrm>
            <a:off x="320040" y="1664208"/>
            <a:ext cx="4123944" cy="201168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320040" y="1664208"/>
            <a:ext cx="4123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EXTRACTION &amp; PROCESSING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489704" y="1664208"/>
            <a:ext cx="3081528" cy="20116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4490339" y="1664208"/>
            <a:ext cx="3081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7616952" y="1664208"/>
            <a:ext cx="996696" cy="20116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7616952" y="1664208"/>
            <a:ext cx="9966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PRE-MODEL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7616952" y="1965960"/>
            <a:ext cx="996696" cy="713232"/>
          </a:xfrm>
          <a:prstGeom prst="rect">
            <a:avLst/>
          </a:prstGeom>
          <a:solidFill>
            <a:srgbClr val="43140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7616952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7616952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SARIMA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5"/>
          <p:cNvCxnSpPr/>
          <p:nvPr/>
        </p:nvCxnSpPr>
        <p:spPr>
          <a:xfrm>
            <a:off x="7571232" y="2322576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5"/>
          <p:cNvSpPr/>
          <p:nvPr/>
        </p:nvSpPr>
        <p:spPr>
          <a:xfrm>
            <a:off x="6574536" y="1965960"/>
            <a:ext cx="996696" cy="713232"/>
          </a:xfrm>
          <a:prstGeom prst="rect">
            <a:avLst/>
          </a:prstGeom>
          <a:solidFill>
            <a:srgbClr val="43140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6574536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6574536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Prophet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5"/>
          <p:cNvCxnSpPr/>
          <p:nvPr/>
        </p:nvCxnSpPr>
        <p:spPr>
          <a:xfrm>
            <a:off x="6528816" y="2322576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p5"/>
          <p:cNvSpPr/>
          <p:nvPr/>
        </p:nvSpPr>
        <p:spPr>
          <a:xfrm>
            <a:off x="5532120" y="1965960"/>
            <a:ext cx="996696" cy="713232"/>
          </a:xfrm>
          <a:prstGeom prst="rect">
            <a:avLst/>
          </a:prstGeom>
          <a:solidFill>
            <a:srgbClr val="43140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5532120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5532120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5"/>
          <p:cNvCxnSpPr/>
          <p:nvPr/>
        </p:nvCxnSpPr>
        <p:spPr>
          <a:xfrm>
            <a:off x="5486400" y="2322576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5"/>
          <p:cNvSpPr/>
          <p:nvPr/>
        </p:nvSpPr>
        <p:spPr>
          <a:xfrm>
            <a:off x="4489704" y="1965960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4489704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489704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5"/>
          <p:cNvCxnSpPr/>
          <p:nvPr/>
        </p:nvCxnSpPr>
        <p:spPr>
          <a:xfrm>
            <a:off x="4443984" y="2322576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5"/>
          <p:cNvSpPr/>
          <p:nvPr/>
        </p:nvSpPr>
        <p:spPr>
          <a:xfrm>
            <a:off x="3447288" y="1965960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3447288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3447288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Export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5532120" y="2734056"/>
            <a:ext cx="3081528" cy="201168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5532120" y="2734056"/>
            <a:ext cx="3081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3447288" y="2734056"/>
            <a:ext cx="2039112" cy="201168"/>
          </a:xfrm>
          <a:prstGeom prst="rect">
            <a:avLst/>
          </a:prstGeom>
          <a:solidFill>
            <a:srgbClr val="0D6E63"/>
          </a:solidFill>
          <a:ln w="12700" cap="flat" cmpd="sng">
            <a:solidFill>
              <a:srgbClr val="0D6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3447288" y="2734056"/>
            <a:ext cx="2039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&amp; OUTPUT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320040" y="3310128"/>
            <a:ext cx="8503920" cy="6858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457200" y="33558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Dataset: 1,067,371 transactions  →  Clean: 94.4% retained  →  Target: Weekly Revenue (£)  →  Features: 26  →  Models: 3  →  Best: Gradient Boosting (FA 82.9%)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 Processing &amp; Diagnostics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Cleaning Audit Trail → 94.4% Records Retained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31520"/>
            <a:ext cx="5029200" cy="3200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315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CLEANING STEPS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69848"/>
            <a:ext cx="502920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1161288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1612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106424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Remove duplicate rows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1289304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drop_duplicates()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27248" y="115214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drop_duplicates()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" y="1600200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16002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3232" y="1545336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Remove cancelled invoices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1728216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Invoice prefix 'C' → returns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27248" y="159105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Invoice prefix 'C' → returns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1947672"/>
            <a:ext cx="502920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2039112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03911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1984248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Remove Qty ≤ 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2167128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Negative / zero quantities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27248" y="202996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Negative / zero quantities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" y="2478024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247802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3232" y="2423160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Remove Price ≤ 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" y="2606040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Data entry errors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127248" y="246888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Data entry errors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825496"/>
            <a:ext cx="502920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4048" y="2916936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29169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3232" y="2862072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Parse InvoiceDate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" y="3044952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pandas datetime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27248" y="290779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pandas datetime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4048" y="3355848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4048" y="335584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3232" y="3300984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Extract time features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" y="3483864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Year, Month, Week, IsWeekend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127248" y="334670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Year, Month, Week, IsWeekend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502920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4048" y="3794760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84048" y="379476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232" y="3739896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Create Revenue field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3232" y="3922776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Quantity × Price → target variable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127248" y="37856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Quantity × Price → target variable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532120" y="731520"/>
            <a:ext cx="3337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532120" y="731520"/>
            <a:ext cx="3337560" cy="32004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32120" y="73152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POST-CLEANING SUMMARY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23560" y="1078992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94.4%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48272" y="113385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Records retained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23560" y="1490472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~1.0M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48272" y="154533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Clean transactions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23560" y="1901952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48272" y="19568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Negative prices/qty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32120" y="2487168"/>
            <a:ext cx="3337560" cy="914400"/>
          </a:xfrm>
          <a:prstGeom prst="rect">
            <a:avLst/>
          </a:prstGeom>
          <a:solidFill>
            <a:srgbClr val="FFF7ED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23560" y="2523744"/>
            <a:ext cx="3154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</a:rPr>
              <a:t>⚠  Customer ID: 22.8% Missing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23560" y="2761488"/>
            <a:ext cx="3154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Acceptable — Customer-level analysis not required for aggregate weekly revenue forecasting.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32120" y="3511296"/>
            <a:ext cx="33375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623560" y="3547872"/>
            <a:ext cx="3154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Missing Values by Field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623560" y="3785616"/>
            <a:ext cx="2538056" cy="13716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623560" y="3785616"/>
            <a:ext cx="31546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Customer ID — 22.8%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623560" y="3968496"/>
            <a:ext cx="44527" cy="13716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623560" y="3968496"/>
            <a:ext cx="31546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Description — 0.4%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623560" y="4151376"/>
            <a:ext cx="0" cy="137160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623560" y="4151376"/>
            <a:ext cx="31546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Others — 0%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7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Variable &amp; Feature Engineering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320040" y="73152"/>
            <a:ext cx="8503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Weekly Revenue + 26 Predictive Features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Sales Revenue Forecasting | Online Retail II | V1.0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8503920" y="49194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274320" y="804672"/>
            <a:ext cx="5029200" cy="146304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2" name="Google Shape;362;p7"/>
          <p:cNvSpPr/>
          <p:nvPr/>
        </p:nvSpPr>
        <p:spPr>
          <a:xfrm>
            <a:off x="274320" y="804672"/>
            <a:ext cx="64008" cy="14630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502920" y="877824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Target Variable: TotalRevenue (£ per Week)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502920" y="126187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1810512" y="1261872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 of (Quantity × Price) for all clean transactions per ISO week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02920" y="149961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Granularity: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1810512" y="1499616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Weekly — Monday to Sunday (ISO calendar)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502920" y="173736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Aggregation: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1810512" y="1737360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900"/>
            </a:pPr>
            <a:r>
              <a:rPr lang="en-US" sz="900" dirty="0">
                <a:solidFill>
                  <a:schemeClr val="bg2"/>
                </a:solidFill>
              </a:rPr>
              <a:t>Sum of all revenue values for that week</a:t>
            </a:r>
            <a:endParaRPr lang="en-US" sz="9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502920" y="197510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Distribution: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1810512" y="1975104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= £193.2k | Median = £170.9k | Holiday spike: +50–65%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5440680" y="804672"/>
            <a:ext cx="3383280" cy="1463040"/>
          </a:xfrm>
          <a:prstGeom prst="rect">
            <a:avLst/>
          </a:prstGeom>
          <a:solidFill>
            <a:srgbClr val="431407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5440680" y="804672"/>
            <a:ext cx="64008" cy="14630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5577840" y="87782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Holiday Season Impact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5577840" y="11887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+50% – 65%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5577840" y="17190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above baseline in Nov–Dec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320040" y="2395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Direct Features (9)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320040" y="2743200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320040" y="2743200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1828800" y="2743200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1828800" y="2743200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Month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3337560" y="2743200"/>
            <a:ext cx="1193800" cy="31115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3337560" y="2743200"/>
            <a:ext cx="120015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WeekNum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320040" y="3127248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338455" y="3154553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Quarter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1828800" y="3127248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1828800" y="3125978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AvgPrice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3337560" y="3127375"/>
            <a:ext cx="1200150" cy="31115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7"/>
          <p:cNvSpPr/>
          <p:nvPr/>
        </p:nvSpPr>
        <p:spPr>
          <a:xfrm>
            <a:off x="3337560" y="3126740"/>
            <a:ext cx="118554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NumInvoices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320040" y="3511296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320040" y="3511296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NumProducts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1828800" y="3511296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1828800" y="3501771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NumCustomers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3337560" y="3511550"/>
            <a:ext cx="1185545" cy="31115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3364865" y="3511550"/>
            <a:ext cx="115824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TotalQuantity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4617720" y="239572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Derived / Engineered Features (17)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4663440" y="2743200"/>
            <a:ext cx="64008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4782312" y="274320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Rev_Lag1–4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4782312" y="288950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Short-term autocorr.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4663440" y="3090672"/>
            <a:ext cx="64008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4782312" y="309067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Rev_Lag8, Lag12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4782312" y="3236976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Bi-monthly / quarterly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4663440" y="3438144"/>
            <a:ext cx="64008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4782312" y="34381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Rev_Lag52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4782312" y="3584448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Year-over-year comp.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4663440" y="3785616"/>
            <a:ext cx="64008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7"/>
          <p:cNvSpPr/>
          <p:nvPr/>
        </p:nvSpPr>
        <p:spPr>
          <a:xfrm>
            <a:off x="4782312" y="378561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Roll4_Mean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4782312" y="3931920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4-wk rolling average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4663440" y="4133088"/>
            <a:ext cx="64008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7"/>
          <p:cNvSpPr/>
          <p:nvPr/>
        </p:nvSpPr>
        <p:spPr>
          <a:xfrm>
            <a:off x="4782312" y="4133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Roll12_Mean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4782312" y="4279392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12-wk baseline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4663440" y="4480560"/>
            <a:ext cx="64008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7"/>
          <p:cNvSpPr/>
          <p:nvPr/>
        </p:nvSpPr>
        <p:spPr>
          <a:xfrm>
            <a:off x="4782312" y="448056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Roll4_Std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4782312" y="462686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Revenue volatility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6812280" y="2743200"/>
            <a:ext cx="64008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6931152" y="274320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HolidaySeason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6931152" y="288950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Nov–Dec flag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6812280" y="3090672"/>
            <a:ext cx="64008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7"/>
          <p:cNvSpPr/>
          <p:nvPr/>
        </p:nvSpPr>
        <p:spPr>
          <a:xfrm>
            <a:off x="6931152" y="309067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PreHoliday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6931152" y="3236976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October ramp-up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6812280" y="3438144"/>
            <a:ext cx="64008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7"/>
          <p:cNvSpPr/>
          <p:nvPr/>
        </p:nvSpPr>
        <p:spPr>
          <a:xfrm>
            <a:off x="6931152" y="34381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PostHoliday / SummerPeak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6931152" y="3584448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Jan / Jun–Jul flags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6812280" y="3785616"/>
            <a:ext cx="64008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7"/>
          <p:cNvSpPr/>
          <p:nvPr/>
        </p:nvSpPr>
        <p:spPr>
          <a:xfrm>
            <a:off x="6931152" y="378561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AvgPrice_Lag1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6931152" y="3931920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Lagged pricing signal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6812280" y="4133088"/>
            <a:ext cx="64008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7"/>
          <p:cNvSpPr/>
          <p:nvPr/>
        </p:nvSpPr>
        <p:spPr>
          <a:xfrm>
            <a:off x="6931152" y="4133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WeekIndex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6931152" y="4279392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 linear trend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6675120" y="4531995"/>
            <a:ext cx="2468880" cy="360045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6675755" y="4544695"/>
            <a:ext cx="2384425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Total: 26 Features used in final model</a:t>
            </a:r>
            <a:endParaRPr sz="9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Pre-Modeling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ADF Test  |  Time-Ordered Train / Val / Test Split  |  Gradient Boosting Config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8595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70 / 15 / 15  TIME-ORDERED  TRAIN / VALIDATION / TEST  SPLIT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060704"/>
            <a:ext cx="5029200" cy="804672"/>
          </a:xfrm>
          <a:prstGeom prst="rect">
            <a:avLst/>
          </a:prstGeom>
          <a:solidFill>
            <a:srgbClr val="0D9488">
              <a:alpha val="85000"/>
            </a:srgb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— 43 weeks (70%)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Jan 2011 – Sep 2011  |  Model training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0" y="1060704"/>
            <a:ext cx="1463040" cy="804672"/>
          </a:xfrm>
          <a:prstGeom prst="rect">
            <a:avLst/>
          </a:prstGeom>
          <a:solidFill>
            <a:srgbClr val="F59E0B">
              <a:alpha val="8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32120" y="109728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 — 15%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137160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Model selection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40880" y="1060704"/>
            <a:ext cx="1737360" cy="804672"/>
          </a:xfrm>
          <a:prstGeom prst="rect">
            <a:avLst/>
          </a:prstGeom>
          <a:solidFill>
            <a:srgbClr val="EF4444">
              <a:alpha val="85000"/>
            </a:srgb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86600" y="1097280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— 15%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6600" y="13716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Fully held out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176272"/>
            <a:ext cx="4114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176272"/>
            <a:ext cx="411480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176272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STATIONARITY ANALYSIS (SARIMA)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487168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ADF (original)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40280" y="2487168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Confirms d parameter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980944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ADF (differenced)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40280" y="2980944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Stationary at d=1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47472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ACF plot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40280" y="347472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q=1 (cuts off at lag 1)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968496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PACF plot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40280" y="3968496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p=1 (cuts off at lag 1)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480560"/>
            <a:ext cx="3657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Final Config: SARIMA (1,1,1)(1,1,1,4)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2176272"/>
            <a:ext cx="42062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2176272"/>
            <a:ext cx="420624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17720" y="217627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GRADIENT BOOSTING HYPERPARAMETERS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487168"/>
            <a:ext cx="1325880" cy="256032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2487168"/>
            <a:ext cx="1325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Parameter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35040" y="2487168"/>
            <a:ext cx="1325880" cy="256032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0" y="2487168"/>
            <a:ext cx="1325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Normal Markets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360920" y="2487168"/>
            <a:ext cx="1325880" cy="256032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60920" y="2487168"/>
            <a:ext cx="1325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Volatile Markets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09160" y="2761488"/>
            <a:ext cx="3977640" cy="384048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2761488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n_estimators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35040" y="2761488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300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60920" y="2761488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300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09160" y="3163824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learning_rate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35040" y="3163824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0.05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60920" y="3163824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0.02 (slower)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3566160"/>
            <a:ext cx="3977640" cy="384048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9160" y="3566160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max_depth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35040" y="3566160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360920" y="3566160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3 (simpler)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09160" y="3968496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subsample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035040" y="3968496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0.8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360920" y="3968496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0.7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09160" y="4370832"/>
            <a:ext cx="3977640" cy="384048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09160" y="4370832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min_samples_leaf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35040" y="4370832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3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360920" y="4370832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5 (smoother)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Model Building — Three Approaches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SARIMA  |  Facebook Prophet  |  Gradient Boosting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27432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2743200" cy="329184"/>
          </a:xfrm>
          <a:prstGeom prst="rect">
            <a:avLst/>
          </a:prstGeom>
          <a:solidFill>
            <a:srgbClr val="1A3352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768096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SARIMA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(1,1,1)(1,1,1,4)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33502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352"/>
                </a:solidFill>
              </a:rPr>
              <a:t>Configuration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536192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352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p=1: AR order (PACF lag 1)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1847088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352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d=1: Differencing (ADF test)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2157984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352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q=1: MA order (ACF lag 1)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468880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352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s=4: Monthly seasonal proxy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256032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85292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Strengths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306324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Native seasonality &amp; conf. intervals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4048" y="333756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No feature engineering needed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4048" y="361188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Full interpretability &amp; audit trail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✗ Limitations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4114800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Cannot use exogenous features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84048" y="4370832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Slow at s=52; linear only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0" y="749808"/>
            <a:ext cx="27432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749808"/>
            <a:ext cx="2743200" cy="329184"/>
          </a:xfrm>
          <a:prstGeom prst="rect">
            <a:avLst/>
          </a:prstGeom>
          <a:solidFill>
            <a:srgbClr val="7C3AED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768096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Facebook Prophet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109728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Decomposable 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0" y="133502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Configuration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10128" y="1536192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seasonality_mode: additive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10128" y="1847088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yearly_seasonality: True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0128" y="2157984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changepoint_prior: 0.05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0128" y="2468880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Custom holidays: Black Friday, Christmas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0" y="2816352"/>
            <a:ext cx="256032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285292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Strengths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10128" y="306324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Holiday support built-in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10128" y="333756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Decomposes trend + seasonality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10128" y="361188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Robust to missing data &amp; outliers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91840" y="391363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✗ Limitations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10128" y="4114800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Less direct parameter control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310128" y="4370832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Requires separate install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26480" y="749808"/>
            <a:ext cx="27432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26480" y="749808"/>
            <a:ext cx="2743200" cy="36576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126480" y="749808"/>
            <a:ext cx="2743200" cy="32918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17920" y="768096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Gradient Boosting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822960"/>
            <a:ext cx="502920" cy="2011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75320" y="822960"/>
            <a:ext cx="502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D9488"/>
                </a:solidFill>
              </a:rPr>
              <a:t>SELECTED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217920" y="109728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★ Best Model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133502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Configuration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36208" y="1536192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300 boosting stages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36208" y="1847088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learning_rate=0.05/0.02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36208" y="2157984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max_depth=4/3 (normal/volatile)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36208" y="2468880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Stochastic: subsample=0.8/0.7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2816352"/>
            <a:ext cx="256032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285292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Strengths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36208" y="306324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Lowest MAPE — best performer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36208" y="333756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Captures non-linear patterns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36208" y="361188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Two hyperparameter profiles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17920" y="391363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✗ Limitations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36208" y="4114800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Needs lag feature engineering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236208" y="4370832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Overfitting risk without tuning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Model Evaluation &amp; Selection Results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MAPE (0–100) — Lower is Better  |  Time-Ordered Test Split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26864"/>
            <a:ext cx="8595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626864"/>
            <a:ext cx="8595360" cy="292608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626864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626864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MAPE (0–100)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0" y="62686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First-week change vs Actual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75120" y="626864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MAE (£)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0" y="74980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Selected?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937760"/>
            <a:ext cx="859536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974336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SARIMA (1,1,1)(1,1,1,4)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974336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76.7%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974336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High bias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75120" y="974336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£196.2k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974336"/>
            <a:ext cx="548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141324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Facebook Prophet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31720" y="141324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20.3%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1413248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Moderate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75120" y="1413248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£51.8k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1413248"/>
            <a:ext cx="548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815584"/>
            <a:ext cx="859536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1815584"/>
            <a:ext cx="8595360" cy="420624"/>
          </a:xfrm>
          <a:prstGeom prst="rect">
            <a:avLst/>
          </a:prstGeom>
          <a:solidFill>
            <a:srgbClr val="F0FDF4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185216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Gradient Boosting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31720" y="185216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17.1%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0" y="185216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Low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75120" y="1852160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£54.3k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29600" y="1852160"/>
            <a:ext cx="548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★ YES</a:t>
            </a:r>
            <a:endParaRPr lang="en-US" sz="1000" dirty="0"/>
          </a:p>
        </p:txBody>
      </p:sp>
      <p:graphicFrame>
        <p:nvGraphicFramePr>
          <p:cNvPr id="33" name="Chart 0"/>
          <p:cNvGraphicFramePr/>
          <p:nvPr>
            <p:extLst>
              <p:ext uri="{D42A27DB-BD31-4B8C-83A1-F6EECF244321}">
                <p14:modId xmlns:p14="http://schemas.microsoft.com/office/powerpoint/2010/main" val="3533167849"/>
              </p:ext>
            </p:extLst>
          </p:nvPr>
        </p:nvGraphicFramePr>
        <p:xfrm>
          <a:off x="274320" y="2397957"/>
          <a:ext cx="3761105" cy="1232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4572000" y="2442140"/>
            <a:ext cx="42976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572000" y="2442140"/>
            <a:ext cx="429768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572000" y="2442140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MAPE BY TEST PERIOD — Gradient Boosting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681728" y="2771324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Period 1 (wk 1-3)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217920" y="2817298"/>
            <a:ext cx="1816100" cy="221615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046720" y="2817298"/>
            <a:ext cx="548640" cy="2076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14.2%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681728" y="3191948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Period 2 (wk 4-6)</a:t>
            </a:r>
          </a:p>
        </p:txBody>
      </p:sp>
      <p:sp>
        <p:nvSpPr>
          <p:cNvPr id="41" name="Shape 38"/>
          <p:cNvSpPr/>
          <p:nvPr/>
        </p:nvSpPr>
        <p:spPr>
          <a:xfrm>
            <a:off x="6226810" y="3237668"/>
            <a:ext cx="2099945" cy="200025"/>
          </a:xfrm>
          <a:prstGeom prst="rect">
            <a:avLst/>
          </a:prstGeom>
          <a:solidFill>
            <a:srgbClr val="14B8A6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326755" y="3237668"/>
            <a:ext cx="53657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</a:rPr>
              <a:t>17.8%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81728" y="3612572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Period 3 (wk 7-9)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217920" y="3667563"/>
            <a:ext cx="2286000" cy="202565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412480" y="3667563"/>
            <a:ext cx="54864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19.5%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681728" y="4033196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Period 4 (wk 10-11)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217920" y="4087933"/>
            <a:ext cx="2108835" cy="18288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321040" y="4070153"/>
            <a:ext cx="53340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17.1%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81728" y="432580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Note: Box plot of % errors per period shows consistent spread — no period exhibits extreme outliers.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74320" y="4681728"/>
            <a:ext cx="8595360" cy="18288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365760" y="4681728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352"/>
                </a:solidFill>
              </a:rPr>
              <a:t>MAPE = (1/n) × Σ |Actual − Forecast| / Actual × 100  |  Target: MAPE &lt; 15% for operational deployment  |  Gradient Boosting achieves 17.1% — closest to target in Phase 2</a:t>
            </a:r>
            <a:endParaRPr lang="en-US" sz="7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85401F5-EEA1-FEE4-E1A8-F047E95F3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59" y="3667563"/>
            <a:ext cx="3745865" cy="10141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890"/>
            <a:ext cx="9144000" cy="60325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90080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Technical Architecture — Deliverable 2</a:t>
            </a:r>
          </a:p>
        </p:txBody>
      </p:sp>
      <p:sp>
        <p:nvSpPr>
          <p:cNvPr id="4" name="Text 2"/>
          <p:cNvSpPr/>
          <p:nvPr/>
        </p:nvSpPr>
        <p:spPr>
          <a:xfrm>
            <a:off x="3808095" y="0"/>
            <a:ext cx="533590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Cluster-Based Forecasting Platform  |  FastAPI + Docker + PostgreSQL + Optional Ollama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" y="713105"/>
            <a:ext cx="4195445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49240" y="713232"/>
            <a:ext cx="35661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49240" y="713232"/>
            <a:ext cx="356616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49240" y="71323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COMPONENTS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40680" y="1024128"/>
            <a:ext cx="256032" cy="219456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40680" y="102412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42432" y="1024128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Browser UI: FastAPI static serve — Chat + Charts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40680" y="1289304"/>
            <a:ext cx="256032" cy="219456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1289304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42432" y="1289304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API Layer: FastAPI + SQLAlchemy + PostgreSQL 16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40680" y="1554480"/>
            <a:ext cx="256032" cy="219456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40680" y="1554480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42432" y="1554480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Agent / Router: Heuristic (regex) OR Ollama LLM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440680" y="1819656"/>
            <a:ext cx="256032" cy="219456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40680" y="181965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42432" y="1819656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Forecast Engine: GBR / RF per cluster — scikit-learn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440680" y="2084832"/>
            <a:ext cx="256032" cy="219456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40680" y="2084832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42432" y="2084832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Persistence: PostgreSQL + .joblib artifact store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40680" y="2350008"/>
            <a:ext cx="256032" cy="219456"/>
          </a:xfrm>
          <a:prstGeom prst="rect">
            <a:avLst/>
          </a:prstGeom>
          <a:solidFill>
            <a:srgbClr val="059669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40680" y="235000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42432" y="2350008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Offline Pipeline: DTW → Cluster → Train → Evaluate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349240" y="2798064"/>
            <a:ext cx="3566160" cy="914400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86400" y="2834640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🐳  Docker Compose Stack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0" y="3090672"/>
            <a:ext cx="3337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api container (uvicorn)  ·  db container (postgres:16)  </a:t>
            </a:r>
            <a:r>
              <a:rPr lang="en-US" sz="800">
                <a:solidFill>
                  <a:srgbClr val="334155"/>
                </a:solidFill>
              </a:rPr>
              <a:t>· Ollama </a:t>
            </a:r>
            <a:r>
              <a:rPr lang="en-US" sz="800" dirty="0">
                <a:solidFill>
                  <a:srgbClr val="334155"/>
                </a:solidFill>
              </a:rPr>
              <a:t>sidecar via host.docker.internal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349240" y="3803904"/>
            <a:ext cx="3566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349240" y="3803904"/>
            <a:ext cx="3566160" cy="256032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349240" y="380390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KEY DESIGN DECISIONS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68112" y="4096512"/>
            <a:ext cx="33375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→  LLM routes only — no forecast math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68112" y="4279392"/>
            <a:ext cx="33375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→  Cluster-based models (not one-size-fits-all)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68112" y="4462272"/>
            <a:ext cx="33375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→  DTW clustering → GBR / RF per segment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68112" y="4645152"/>
            <a:ext cx="33375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→  MAPE validation for model selection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Business Value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Tangible Impact for Business Operations &amp; Customers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148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1064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📦 Inventory Planning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3533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Cluster-level weekly forecasts enable precise stock replenishment, reducing over-ordering by an estimated 15–25% and cutting holding costs.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9751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208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⚠️ Demand Risk Reduction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2677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Multi-period MAPE tracking flags early forecast drift — planners get early warning before stockouts or excess build-up occurs.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9352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📊 Service Level Improvement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Accurate demand signals allow buffer stock calibration, targeting 95%+ product availability during peak periods (Nov–Dec).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8039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8496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🔄 Retraining Cadence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0965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Automated weekly pipeline with drift monitoring; model retraining triggered when MAPE exceeds threshold — ensuring sustained accuracy.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749808"/>
            <a:ext cx="41148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749808"/>
            <a:ext cx="4114800" cy="32004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74980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BENEFIT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1064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🛒 Product Availability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13533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Better stock forecasting means customers find products in stock — especially high-velocity lines during holiday season.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19751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0208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💰 Pricing Stability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22677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Reduced supply-chain reactivity prevents panic pricing and last-minute markdowns, delivering more consistent pricing.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28895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9352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⚡ Faster Fulfilment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1821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Pre-positioned inventory from accurate forecasts shortens order-to-delivery time for top SKUs.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8039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8496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🌍 Multi-Region Visibility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0965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Cluster models cover 40+ countries; UK-heavy bias corrected by segment — no one market distorts another's plan.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Agentic UX — Live Forecast Results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Cluster-Based Model  ·  Product 85123A  ·  4-Week Forward Forecast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486400" cy="32004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713232"/>
            <a:ext cx="2834640" cy="3200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4005072"/>
            <a:ext cx="8595360" cy="914400"/>
          </a:xfrm>
          <a:prstGeom prst="rect">
            <a:avLst/>
          </a:prstGeom>
          <a:solidFill>
            <a:srgbClr val="F0FDF4"/>
          </a:solidFill>
          <a:ln w="9525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11480" y="4041648"/>
            <a:ext cx="8321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System Flow: User types product ID  →  Agent router classifies intent + entity  →  Cluster resolver maps to product_cluster_03  →  GBR model loads &amp; produces 4-week forecast  →  UI renders actuals + forecast chart + MAPE note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11480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1480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Cluster: steady-flat-products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2093976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093976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MAPE: ~17%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3776472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776472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Forecast Total: £6,887.72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458968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458968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12-wk avg: £2,067.62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141464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141464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First-week Δ: -9.2%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12-Week Forward Forecast — Gradient Boosting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Jan–Mar 2012  |  Total Projected Revenue: £3,517,711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1993392" cy="9144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841248"/>
            <a:ext cx="19933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£3,517,711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1316736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12-Week Total Forecast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50592" y="749808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749808"/>
            <a:ext cx="1993392" cy="9144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841248"/>
            <a:ext cx="19933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17.1%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50592" y="1316736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MAPE (0–100)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749808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749808"/>
            <a:ext cx="1993392" cy="9144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841248"/>
            <a:ext cx="19933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+0.10%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26864" y="1316736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Forecast Bias (FB%)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749808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749808"/>
            <a:ext cx="1993392" cy="9144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841248"/>
            <a:ext cx="19933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£293,143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03136" y="1316736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Avg Weekly Forecast</a:t>
            </a:r>
            <a:endParaRPr lang="en-US" sz="8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1820164"/>
          <a:ext cx="8595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Note: Forecast generated by Gradient Boosting model retrained on full dataset (train + val + test). Values represent projected weekly sales revenue (£).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Challenges, Findings &amp; Future Phases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Phase 2 Complete — Path to MAPE &lt; 15%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1480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KEY FINDINGS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078992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024128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Gradient Boosting outperforms SARIMA &amp; Prophet on volatile retail revenue series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1591056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1536192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Cluster-based approach (DTW + Agglomerative) enables product-level personalised forecasting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103120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048256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SARIMA (MAPE 76.7%) struggles with high holiday-period volatility in test window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615184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560320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Prophet (MAPE 20.3%) performs well but trails GB despite lower MAE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3127248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072384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Rev_Lag52 (YoY) and NumInvoices are highest correlated features (r=0.87, 0.83)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39312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584448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Holiday season (Nov–Dec) consistently drives 50–65% revenue spikes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749808"/>
            <a:ext cx="4206240" cy="1828800"/>
          </a:xfrm>
          <a:prstGeom prst="rect">
            <a:avLst/>
          </a:prstGeom>
          <a:solidFill>
            <a:srgbClr val="FFF7ED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749808"/>
            <a:ext cx="4206240" cy="274320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749808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CHALLENGES ENCOUNTERED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1069848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⚠  22.8% missing Customer IDs — managed via aggregate forecasting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36592" y="1453896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⚠  High revenue volatility in test window (holiday spike) challenged SARIMA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1837944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⚠  Rev_Lag52 feature limited to 52+ week records only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36592" y="2221992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⚠  MAPE target of 15% not yet achieved — 17.1% in Phase 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2688336"/>
            <a:ext cx="4206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2688336"/>
            <a:ext cx="420624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17720" y="2688336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PHASES ROADMAP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999105"/>
            <a:ext cx="1901825" cy="40005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2999105"/>
            <a:ext cx="1901825" cy="3479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3: Interactive Dashboard</a:t>
            </a:r>
          </a:p>
        </p:txBody>
      </p:sp>
      <p:sp>
        <p:nvSpPr>
          <p:cNvPr id="35" name="Text 33"/>
          <p:cNvSpPr/>
          <p:nvPr/>
        </p:nvSpPr>
        <p:spPr>
          <a:xfrm>
            <a:off x="4709795" y="3291840"/>
            <a:ext cx="190055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Live ops dashboard: weekly actuals vs forecast, MAPE tracking, holiday alerts, cluster-level demand visibility.</a:t>
            </a:r>
          </a:p>
        </p:txBody>
      </p:sp>
      <p:sp>
        <p:nvSpPr>
          <p:cNvPr id="36" name="Shape 34"/>
          <p:cNvSpPr/>
          <p:nvPr/>
        </p:nvSpPr>
        <p:spPr>
          <a:xfrm>
            <a:off x="6739255" y="2999105"/>
            <a:ext cx="1901825" cy="40005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39255" y="2999105"/>
            <a:ext cx="1901825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4: Deployment &amp; Monitoring</a:t>
            </a:r>
          </a:p>
        </p:txBody>
      </p:sp>
      <p:sp>
        <p:nvSpPr>
          <p:cNvPr id="38" name="Text 36"/>
          <p:cNvSpPr/>
          <p:nvPr/>
        </p:nvSpPr>
        <p:spPr>
          <a:xfrm>
            <a:off x="6739890" y="3291840"/>
            <a:ext cx="190055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Automated weekly pipeline, drift monitoring, retraining cadence, fallback to heuristic when MAPE spikes.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Phase 2 Deliverables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Complete End-to-End Cluster-Based Forecasting Platform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148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57200" cy="18745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45720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859536"/>
            <a:ext cx="34564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152144"/>
            <a:ext cx="34564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Deliverable2.ipynb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1389888"/>
            <a:ext cx="345643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13-step end-to-end pipeline with markdown documentation, DTW clustering, GBR/RF per cluster, MAPE evaluation, and forecast visualisations.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749808"/>
            <a:ext cx="41148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749808"/>
            <a:ext cx="457200" cy="187452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749808"/>
            <a:ext cx="45720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57800" y="859536"/>
            <a:ext cx="34564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Technical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1152144"/>
            <a:ext cx="34564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arch_diagram.png + docker-compose.yml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57800" y="1389888"/>
            <a:ext cx="345643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Full system design: FastAPI + SQLAlchemy + PostgreSQL 16 + Heuristic / Ollama agent router + artifact store. Docker Compose orchestrated.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41148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457200" cy="187452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761488"/>
            <a:ext cx="45720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2871216"/>
            <a:ext cx="34564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Forecast API &amp;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163824"/>
            <a:ext cx="34564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FastAPI app — port 8001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3401568"/>
            <a:ext cx="345643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Browser-based forecast assistant: POST /agent/query, GET /history, GET /context, POST /pipeline/train. Chat UI + actuals chart + MAPE note.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761488"/>
            <a:ext cx="41148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761488"/>
            <a:ext cx="457200" cy="1874520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761488"/>
            <a:ext cx="45720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2871216"/>
            <a:ext cx="34564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Project Deck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3163824"/>
            <a:ext cx="34564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Sales_Forecasting_Deck_2.pptx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57800" y="3401568"/>
            <a:ext cx="345643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Executive-grade presentation for professor review, synthesising Deliverable 2 methodology, results, architecture, and business value.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</a:rPr>
              <a:t>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Dataset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423160" y="96012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Online Retail II  |  1,067,371 transactions  |  Dec 2009 – Dec 2011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Clustering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150876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DTW Distance + Agglomerative Clustering  →  Segment-level product/customer models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Models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23160" y="205740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SARIMA (MAPE 76.7%)  |  Prophet (MAPE 20.3%)  |  Gradient Boosting (MAPE 17.1%)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Best Model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260604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Gradient Boosting  |  MAPE: 17.1%  |  FB: +0.10%  |  Cluster-aware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Forecast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315468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12-Week Forward: £3,517,711 (Jan–Mar 2012)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23160" y="370332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FastAPI + PostgreSQL + Docker  | LLM agent routing  |  Browser UI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Next Steps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425196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Deployment, drift monitoring, retraining cadence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0D9488">
              <a:alpha val="5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Sales Revenue Forecasting — Online Retail II  |  Deliverable 2  |  BROCODE  |  Feb 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TEAM BROCODE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Sales Revenue Forecasting | Online Retail II | Deliverable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1508760"/>
            <a:ext cx="1371600" cy="137160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AK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Ayush Kumar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ML Engineer &amp; Pipeline Architect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66160" y="1508760"/>
            <a:ext cx="1371600" cy="137160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AM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99923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Aditi Mittal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3310128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Data Processing &amp; Feature Engineering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1371600" cy="137160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50876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ST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299923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Shweta Tripathi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3310128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Model Evaluation &amp; Presentation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Online Retail II  |  UCI ML Repository  |  Feb 2026</a:t>
            </a:r>
            <a:endParaRPr lang="en-US" sz="900" dirty="0"/>
          </a:p>
        </p:txBody>
      </p:sp>
      <p:pic>
        <p:nvPicPr>
          <p:cNvPr id="734" name="Google Shape;734;g395816e5484_0_5" title="1751031045084.jpe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54835" y="1398000"/>
            <a:ext cx="1592826" cy="159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g395816e5484_0_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505383" y="1395225"/>
            <a:ext cx="1572975" cy="157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g395816e5484_0_5" title="Screenshot 2026-02-28 at 6.32.12 PM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034985" y="1407690"/>
            <a:ext cx="1429534" cy="15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2498</Words>
  <Application>Microsoft Macintosh PowerPoint</Application>
  <PresentationFormat>On-screen Show (16:9)</PresentationFormat>
  <Paragraphs>517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Cluster-Based Forecasting Platform — Deliverable 2</dc:title>
  <dc:subject>PptxGenJS Presentation</dc:subject>
  <dc:creator>PptxGenJS</dc:creator>
  <cp:lastModifiedBy>ak5486</cp:lastModifiedBy>
  <cp:revision>4</cp:revision>
  <dcterms:created xsi:type="dcterms:W3CDTF">2026-03-28T17:38:38Z</dcterms:created>
  <dcterms:modified xsi:type="dcterms:W3CDTF">2026-03-28T21:38:08Z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